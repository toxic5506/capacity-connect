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9072c677634977" /><Relationship Type="http://schemas.openxmlformats.org/officeDocument/2006/relationships/extended-properties" Target="/docProps/app.xml" Id="R14f3077e7d5a494a" /><Relationship Type="http://schemas.openxmlformats.org/officeDocument/2006/relationships/officeDocument" Target="/ppt/presentation.xml" Id="R4a1fe554d7154f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a2385533b44f24"/>
  </p:sldMasterIdLst>
  <p:notesMasterIdLst>
    <p:notesMasterId xmlns:r="http://schemas.openxmlformats.org/officeDocument/2006/relationships" r:id="Rb20cd6031b544844"/>
  </p:notesMasterIdLst>
  <p:sldIdLst>
    <p:sldId xmlns:r="http://schemas.openxmlformats.org/officeDocument/2006/relationships" id="256" r:id="Re7017d842ef346d3"/>
    <p:sldId xmlns:r="http://schemas.openxmlformats.org/officeDocument/2006/relationships" id="257" r:id="Raeee2d0e293f4dd8"/>
    <p:sldId xmlns:r="http://schemas.openxmlformats.org/officeDocument/2006/relationships" id="258" r:id="Reee3dd16e0f949f8"/>
    <p:sldId xmlns:r="http://schemas.openxmlformats.org/officeDocument/2006/relationships" id="259" r:id="Ra625c209d830443f"/>
    <p:sldId xmlns:r="http://schemas.openxmlformats.org/officeDocument/2006/relationships" id="260" r:id="Rf1f21f871a0a47ee"/>
    <p:sldId xmlns:r="http://schemas.openxmlformats.org/officeDocument/2006/relationships" id="261" r:id="Rc2f33589b03947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0a00996e0f46ed" /><Relationship Type="http://schemas.openxmlformats.org/officeDocument/2006/relationships/slideMaster" Target="/ppt/slideMasters/slideMaster1.xml" Id="R2aa2385533b44f24" /><Relationship Type="http://schemas.openxmlformats.org/officeDocument/2006/relationships/notesMaster" Target="/ppt/notesMasters/notesMaster1.xml" Id="Rb20cd6031b544844" /><Relationship Type="http://schemas.openxmlformats.org/officeDocument/2006/relationships/presProps" Target="/ppt/presProps.xml" Id="Re46b00997e54420f" /><Relationship Type="http://schemas.openxmlformats.org/officeDocument/2006/relationships/tableStyles" Target="/ppt/tableStyles.xml" Id="R4a1a27d658a24f70" /><Relationship Type="http://schemas.openxmlformats.org/officeDocument/2006/relationships/slide" Target="/ppt/slides/slide1.xml" Id="Re7017d842ef346d3" /><Relationship Type="http://schemas.openxmlformats.org/officeDocument/2006/relationships/slide" Target="/ppt/slides/slide2.xml" Id="Raeee2d0e293f4dd8" /><Relationship Type="http://schemas.openxmlformats.org/officeDocument/2006/relationships/slide" Target="/ppt/slides/slide3.xml" Id="Reee3dd16e0f949f8" /><Relationship Type="http://schemas.openxmlformats.org/officeDocument/2006/relationships/slide" Target="/ppt/slides/slide4.xml" Id="Ra625c209d830443f" /><Relationship Type="http://schemas.openxmlformats.org/officeDocument/2006/relationships/slide" Target="/ppt/slides/slide5.xml" Id="Rf1f21f871a0a47ee" /><Relationship Type="http://schemas.openxmlformats.org/officeDocument/2006/relationships/slide" Target="/ppt/slides/slide6.xml" Id="Rc2f33589b03947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d19ae53cb24a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82dc8ae63d4e06" /><Relationship Type="http://schemas.openxmlformats.org/officeDocument/2006/relationships/notesMaster" Target="/ppt/notesMasters/notesMaster1.xml" Id="R9640858e516649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645d3fea354514" /><Relationship Type="http://schemas.openxmlformats.org/officeDocument/2006/relationships/notesMaster" Target="/ppt/notesMasters/notesMaster1.xml" Id="R9cf929a393df4a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b429d5878d49cb" /><Relationship Type="http://schemas.openxmlformats.org/officeDocument/2006/relationships/notesMaster" Target="/ppt/notesMasters/notesMaster1.xml" Id="R9ce0913fcb0e46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d48a2bfd1042dd" /><Relationship Type="http://schemas.openxmlformats.org/officeDocument/2006/relationships/notesMaster" Target="/ppt/notesMasters/notesMaster1.xml" Id="R5b899acdb77b47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58b330a6064b21" /><Relationship Type="http://schemas.openxmlformats.org/officeDocument/2006/relationships/notesMaster" Target="/ppt/notesMasters/notesMaster1.xml" Id="R28e9a141a74842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bc39c7beed4ab0" /><Relationship Type="http://schemas.openxmlformats.org/officeDocument/2006/relationships/notesMaster" Target="/ppt/notesMasters/notesMaster1.xml" Id="Ref14795c07a941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layout: SIH 2025 title slide supplied by the user. Project metadata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Solution details based on app.py, models.py, and route modules in the Capacity Connect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Technology statements based on requirements.txt, config.py, app.py, models.py, templates/base.html, and routes/*.py.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Feasibility assessment is an engineering assessment based on the current prototype implementation. It does not assert market-size figures.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Impact statements describe intended operational benefits from the implemented Capacity Connect workflows.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plan for the Capacity Connect solution. No external statistics or unsupported results are presented.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0b8ddaf60c45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d0c08c0b9a4f15" /><Relationship Type="http://schemas.openxmlformats.org/officeDocument/2006/relationships/slideLayout" Target="/ppt/slideLayouts/slideLayout1.xml" Id="Rd1a64c354ce041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a64c354ce041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eae24930b440c" /><Relationship Type="http://schemas.openxmlformats.org/officeDocument/2006/relationships/notesSlide" Target="/ppt/notesSlides/notesSlide1.xml" Id="R68b7ccd59e1645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39acd66124689" /><Relationship Type="http://schemas.openxmlformats.org/officeDocument/2006/relationships/notesSlide" Target="/ppt/notesSlides/notesSlide2.xml" Id="Rbdb97b06dcaa44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b41d1754640a6" /><Relationship Type="http://schemas.openxmlformats.org/officeDocument/2006/relationships/notesSlide" Target="/ppt/notesSlides/notesSlide3.xml" Id="Rab541b6e8b0643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c91dc97f84616" /><Relationship Type="http://schemas.openxmlformats.org/officeDocument/2006/relationships/notesSlide" Target="/ppt/notesSlides/notesSlide4.xml" Id="R0e95c66100024e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af246a1cc40b3" /><Relationship Type="http://schemas.openxmlformats.org/officeDocument/2006/relationships/notesSlide" Target="/ppt/notesSlides/notesSlide5.xml" Id="Rb1c14695349543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69a2f9b07473a" /><Relationship Type="http://schemas.openxmlformats.org/officeDocument/2006/relationships/notesSlide" Target="/ppt/notesSlides/notesSlide6.xml" Id="Rb7a8bf1fde7843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78D09-DEE0-4826-8BA7-6494072E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3375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>
              <a:defRPr sz="2850" b="0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2850" b="0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SMART INDIA HACKATHON 2025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2E42E4-B23A-4EF5-AADC-0FB8FAD8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860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SMART INDIA</a:t>
            </a:r>
          </a:p>
          <a:p xmlns:a="http://schemas.openxmlformats.org/drawingml/2006/main">
            <a:pPr>
              <a:defRPr sz="120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HACKATHON</a:t>
            </a:r>
          </a:p>
          <a:p xmlns:a="http://schemas.openxmlformats.org/drawingml/2006/main">
            <a:pPr>
              <a:defRPr sz="120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2025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7A9F9-AEFC-4A23-B5E0-1077BA05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475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TITLE PAGE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C9210-ABB7-45B4-9C89-2A82051B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7810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Problem Statement ID - 26075</a:t>
            </a:r>
          </a:p>
          <a:p xmlns:a="http://schemas.openxmlformats.org/drawingml/2006/main">
            <a:pPr>
              <a:defRPr sz="172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Problem Statement Title - CAPACITY CONNECT A Digital Capacity Building and Learning Management Portal</a:t>
            </a:r>
          </a:p>
          <a:p xmlns:a="http://schemas.openxmlformats.org/drawingml/2006/main">
            <a:pPr>
              <a:defRPr sz="172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Theme - Smart Education</a:t>
            </a:r>
          </a:p>
          <a:p xmlns:a="http://schemas.openxmlformats.org/drawingml/2006/main">
            <a:pPr>
              <a:defRPr sz="172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PS Category - Software</a:t>
            </a:r>
          </a:p>
          <a:p xmlns:a="http://schemas.openxmlformats.org/drawingml/2006/main">
            <a:pPr>
              <a:defRPr sz="172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Team ID -</a:t>
            </a:r>
          </a:p>
          <a:p xmlns:a="http://schemas.openxmlformats.org/drawingml/2006/main">
            <a:pPr>
              <a:defRPr sz="172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Team Name - byte force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D866D-967E-4828-81F0-96921EA7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66875"/>
            <a:ext cx="2857500" cy="31432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9525">
            <a:solidFill>
              <a:srgbClr val="E5EBE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BCCDE-AF4F-4A0A-BE3F-F715D5FD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43125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581"/>
          </a:bodyPr>
          <a:lstStyle xmlns:a="http://schemas.openxmlformats.org/drawingml/2006/main"/>
          <a:p xmlns:a="http://schemas.openxmlformats.org/drawingml/2006/main">
            <a:pPr>
              <a:defRPr sz="5850" b="1" i="0">
                <a:solidFill>
                  <a:srgbClr val="0B75BD"/>
                </a:solidFill>
                <a:latin typeface="Arial"/>
                <a:ea typeface="Arial"/>
                <a:cs typeface="Arial"/>
              </a:defRPr>
            </a:pPr>
            <a:r>
              <a:rPr sz="5850" b="1" i="0">
                <a:solidFill>
                  <a:srgbClr val="0B75BD"/>
                </a:solidFill>
                <a:latin typeface="Arial"/>
                <a:ea typeface="Arial"/>
                <a:cs typeface="Arial"/>
              </a:rPr>
              <a:t>CC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50FA48-E88A-4CE4-8831-E66C8060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86125"/>
            <a:ext cx="200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LEARN</a:t>
            </a:r>
          </a:p>
          <a:p xmlns:a="http://schemas.openxmlformats.org/drawingml/2006/main">
            <a:pPr>
              <a:defRPr sz="17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CONNECT</a:t>
            </a:r>
          </a:p>
          <a:p xmlns:a="http://schemas.openxmlformats.org/drawingml/2006/main">
            <a:pPr>
              <a:defRPr sz="17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GROW</a:t>
            </a:r>
          </a:p>
        </p:txBody>
      </p:sp>
    </p:spTree>
    <p:extLst>
      <p:ext uri="{BB962C8B-B14F-4D97-AF65-F5344CB8AC3E}">
        <p14:creationId xmlns:p14="http://schemas.microsoft.com/office/powerpoint/2010/main" val="7069455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93CC0B-8FF0-4A5D-B062-0D634A1F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5B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EAAB5E-985B-4CE0-889B-2B9304AA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53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5B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EA4F5-42E2-43DF-B9BF-03D17507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23825"/>
            <a:ext cx="1428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F870F-C852-4A14-8A49-AF782286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905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byte force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1C208-837D-4CC0-ABFC-6A508E5B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23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971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Capacity Connect: Digital Capacity Building and Learning Management Portal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2C9D5D-162D-4201-9F6B-40AAB69E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1430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127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SMART INDIA</a:t>
            </a:r>
          </a:p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HACKATHON</a:t>
            </a:r>
          </a:p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2025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A98331-E53F-4E10-BB2C-91D19AEA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81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DC4A73-3677-4956-885D-811BE588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790575"/>
            <a:ext cx="0" cy="155257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B1C6A1-53E3-4BFE-8CB3-89931365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867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Problem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DBAF87-F48A-4B5B-8180-33CC80CE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104900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F8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D46A04-FB03-4DDA-871B-73DAC552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190625"/>
            <a:ext cx="4857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5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42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Capacity-building programmes often keep learning resources, trainee progress, assessment results, and trainer expertise in separate places. Administrators have limited visibility into approvals, course completion, and competency coverage.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9290F-B35F-4BC6-9EE2-F1E84283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82867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Our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C13391-021D-4EAD-BFDB-E4F761D0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104900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F8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C1F750-924B-4113-9F63-AD2D4C3A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190625"/>
            <a:ext cx="6048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42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Capacity Connect brings role-based learning, competency mapping, assessments, certificates, and resource sharing into one portal. It gives trainees, trainers, and administrators a shared operational view.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EF3220-D288-400F-9C4B-B11832CB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622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52EACC-7C82-4051-A32E-BD0B44B6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4288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Proposed Solution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AEE023-306C-4F31-9244-6E33D309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05100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F8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C60B7B-5D31-476E-BCF6-5B8B3FB0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809875"/>
            <a:ext cx="466725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Role-based accounts with administrator approval for new registrations.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Course catalogue with enrollment, progress tracking, feedback, and linked resources.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Timed MCQ assessments that calculate scores and issue certificates after a pass.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354CB7-7BEC-4F33-AA86-81FAD7F9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288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Innovation / Uniqueness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BA127F-D7A4-4F91-A48A-548DBA95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05100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F8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4E2744-492F-4FE8-9961-92D3D6B0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9875"/>
            <a:ext cx="36671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One workflow connects learning activity with trainer competencies.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Certificates and assessment outcomes become part of each learner profile.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Administrators can monitor users, approvals, courses, submissions, and announcements from one console.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C9D8D3-1FFE-4C30-B8EE-9DA93BCF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14750"/>
            <a:ext cx="19526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BEDFB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BA8CAD-2BBA-4CFB-8DCE-E0D04642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62375"/>
            <a:ext cx="1857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Capacity</a:t>
            </a:r>
          </a:p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Connect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9A88B4-7223-4D55-B4FD-9A18B000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810125"/>
            <a:ext cx="1428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263800-243F-4F95-8963-3AA44094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577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Courses &amp;</a:t>
            </a:r>
          </a:p>
          <a:p xmlns:a="http://schemas.openxmlformats.org/drawingml/2006/main">
            <a: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Resources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24A138-6B88-4205-8103-E841DC97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05375"/>
            <a:ext cx="15716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8092B9-A426-49AF-A299-6BC9A84B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147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Assessments &amp;</a:t>
            </a:r>
          </a:p>
          <a:p xmlns:a="http://schemas.openxmlformats.org/drawingml/2006/main">
            <a: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Certificates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DBCF6E-89E3-47D0-8177-DFC4B7BE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810125"/>
            <a:ext cx="1428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EAFB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95093E-440C-4983-A155-517BFC44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Competency</a:t>
            </a:r>
          </a:p>
          <a:p xmlns:a="http://schemas.openxmlformats.org/drawingml/2006/main">
            <a: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Mapping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23ADC8-19D1-49D9-8F3E-D65DE3EF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48175"/>
            <a:ext cx="1666875" cy="3619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34F8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BE320E-0841-4884-81EF-F8238326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448175"/>
            <a:ext cx="0" cy="4572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34F86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719065-2E81-42E9-A139-374E8EB3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48175"/>
            <a:ext cx="1524000" cy="3619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34F86"/>
            </a:solidFill>
          </a:ln>
        </p:spPr>
      </p:sp>
    </p:spTree>
    <p:extLst>
      <p:ext uri="{BB962C8B-B14F-4D97-AF65-F5344CB8AC3E}">
        <p14:creationId xmlns:p14="http://schemas.microsoft.com/office/powerpoint/2010/main" val="12359897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1D82E7-F6BB-4D35-9381-2E33950D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5B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DFD2E-E753-409D-9E29-A1680547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53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5B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68855-3D3C-4218-BC53-C236EFE1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23825"/>
            <a:ext cx="1428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86FA3-C594-4367-8024-04E73D84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905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byte force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6FAB16-DEDA-492E-B042-CFAAF32A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23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TECHNICAL APPROACH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97B29A-04E0-44C4-A708-A3C0DCC6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1430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127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SMART INDIA</a:t>
            </a:r>
          </a:p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HACKATHON</a:t>
            </a:r>
          </a:p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2025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B586BD-AA72-423D-8F06-EEF1120D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81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CD908A-6E16-45B5-8D01-325D4201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742950"/>
            <a:ext cx="0" cy="57340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606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2773F7-60D0-4E2C-9791-CA627971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9048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Technology Stack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9D522F-6CF1-4E79-87AE-A7DA762E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266825"/>
            <a:ext cx="3295650" cy="442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Flask routes and Jinja templates render the web interface.</a:t>
            </a:r>
          </a:p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Tailwind CSS, Lucide icons, Chart.js, and Google Fonts shape the UI.</a:t>
            </a:r>
          </a:p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Flask-SQLAlchemy and SQLAlchemy manage application data.</a:t>
            </a:r>
          </a:p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SQLite stores users, courses, assessments, enrolments, certificates, and more.</a:t>
            </a:r>
          </a:p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Werkzeug hashes passwords and safely names uploaded files.</a:t>
            </a:r>
          </a:p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Local static uploads store learning resources and external certificates.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89CAD-0361-46D7-8F71-64A6FBC5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8763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Application 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56971-B5F1-44FD-A32B-E3E0011D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152525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F8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E946E6-BCDD-49ED-BA89-EDE1D515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381125"/>
            <a:ext cx="1857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4FC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90AD53-0ED0-4FCD-8AE7-3B3EEECA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28750"/>
            <a:ext cx="1762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Sign in / Registration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E46C86-3950-4D62-9039-6C0405F0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47875"/>
            <a:ext cx="1857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86C7EF-5010-491B-A83C-88FF9CB3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1762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Role-based 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580FA8-7D39-4126-A4C0-81E71AA2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4625"/>
            <a:ext cx="261937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78C4FB-C9BD-4B99-BB9B-CE4C6563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762250"/>
            <a:ext cx="2524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Courses, Resources &amp; Enrollment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B0DBF0-9FBF-4940-AB17-5309D1FD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429000"/>
            <a:ext cx="19526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EAFB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D225C7-45B3-4D2A-8752-751CAA0B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76625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863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Assessment Submission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79CBFA-8A9F-4402-9E7B-F3110779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95750"/>
            <a:ext cx="280987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8F4FC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601871-B5FD-4F0E-9718-B8BE5CB5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1433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Score, Certificate &amp; Progress Update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19823E-EFD2-4E93-952A-F9002568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790700"/>
            <a:ext cx="0" cy="25717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F8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077FB5-537F-49A4-AA87-D26A8C87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457450"/>
            <a:ext cx="0" cy="25717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F8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B38B02-C6DC-4152-9D5E-FA95B040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152775"/>
            <a:ext cx="0" cy="2762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F8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1F7C6A-67C1-47E5-BC43-88D70A96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829050"/>
            <a:ext cx="0" cy="2667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F8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6789D5-39E1-459D-9D96-362B5C5A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76300"/>
            <a:ext cx="3762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Data and Storage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08FAFA-418B-4950-8887-D397824A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52525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F8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A3E135-E4BA-4B69-B80E-A8757CC0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71625"/>
            <a:ext cx="2000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E3D0F2-DB0A-44A5-9BBA-74F0F770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192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Browser</a:t>
            </a:r>
          </a:p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Jinja + Tailwind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05A7F9-3964-404A-AC3D-0DBD5140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2000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F4FC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9820D7-AC42-4EBF-8C35-EE6E8629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1937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Flask</a:t>
            </a:r>
          </a:p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Blueprint routes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843891-BACA-4921-A36E-6DB14E37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71875"/>
            <a:ext cx="2000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9C1AA3-BE83-44C7-9D23-64D05ADC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1950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SQLAlchemy</a:t>
            </a:r>
          </a:p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models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DBBE32-9035-43FA-BE6C-BAE24583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72000"/>
            <a:ext cx="2000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4EAFB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15DBB8-F765-49C6-9C30-AB32C3C6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1962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SQLite DB +</a:t>
            </a:r>
          </a:p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static/uploads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8433F3-A026-44AD-BFD3-26B02AB5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90750"/>
            <a:ext cx="0" cy="381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F8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507F07-5644-4744-93A6-25EB40ED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90875"/>
            <a:ext cx="0" cy="381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F86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039528-A975-4AFC-99B8-E3F6C683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191000"/>
            <a:ext cx="0" cy="381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F86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A226EE-1FE6-4287-8B93-BE5DB1EB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619750"/>
            <a:ext cx="428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8E5"/>
          </a:solidFill>
          <a:ln xmlns:a="http://schemas.openxmlformats.org/drawingml/2006/main" w="9525">
            <a:solidFill>
              <a:srgbClr val="8CAFC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FA1DF5-6D6B-4E55-8671-E639BCC2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743575"/>
            <a:ext cx="390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146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Functional local web prototype</a:t>
            </a:r>
          </a:p>
          <a:p xmlns:a="http://schemas.openxmlformats.org/drawingml/2006/main">
            <a:pPr>
              <a:defRPr sz="1200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Core LMS workflows are implemented</a:t>
            </a:r>
          </a:p>
        </p:txBody>
      </p:sp>
    </p:spTree>
    <p:extLst>
      <p:ext uri="{BB962C8B-B14F-4D97-AF65-F5344CB8AC3E}">
        <p14:creationId xmlns:p14="http://schemas.microsoft.com/office/powerpoint/2010/main" val="17627722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65F8BC-51C6-44EA-969F-52900881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5B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172ACE-472A-4FC0-82AD-CC0EC2BB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53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5B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C0ACE-1226-4A03-97D7-7031827E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23825"/>
            <a:ext cx="1428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CC388-A19B-4025-A29E-98D3E9F9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905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byte force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084DBF-7580-45A7-9EA3-25B840E9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23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FEASIBILITY AND VIABILITY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23AD72-E212-41C7-B6DD-7271526D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1430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127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SMART INDIA</a:t>
            </a:r>
          </a:p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HACKATHON</a:t>
            </a:r>
          </a:p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2025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E6B524-A45D-4FB6-9B7F-849E4483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81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C427EF-5A2F-455F-8102-43765416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42950"/>
            <a:ext cx="0" cy="57340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606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045EB9-AA61-41DE-8F0C-E0AC4A35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386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60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07AEF0-F38A-4AD8-BD81-D4228845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8382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Feasibility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787F7-C5C5-4CE9-AF55-4089CE82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114425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F8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08402A-FC5D-4945-AFF9-172AF386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200150"/>
            <a:ext cx="5619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The working prototype already covers accounts, approvals, courses, enrolments, assessments, certificates, and resources.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Flask and SQLite support rapid local deployment with low infrastructure requirements.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The data model separates users, learning activity, trainer competencies, and content records.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Server-rendered pages keep the initial implementation straightforward to maintain.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63F62C-B56D-4576-9B22-43303019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0287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Commercial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2D0D59-241B-4E97-8F0D-C09C114B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04925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F8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E6B0F3-4F5E-41F5-94EE-05898DE5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28750"/>
            <a:ext cx="5334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A shared portal can replace fragmented trackers and manual approval workflows.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Role-based access supports internal academies, training partners, and public-sector capacity programmes.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The modular data model can move from SQLite to a managed database as usage grows.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The platform can add organisation-specific course catalogues and reporting without changing its core user journeys.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2CD2B3-7942-47C1-8F46-FCEA5EF0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14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Challenges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B0132C-6648-4AC4-BDD6-3726D7F4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419600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F8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5C4630-1397-44C9-B985-E6C33E0E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476750"/>
            <a:ext cx="5619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Demo quick-login and automatic admin access need removal before deployment.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File uploads need extension validation, virus scanning, and managed storage.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SQLite and local files limit concurrent, multi-server operation.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Forms need CSRF protection and stronger audit trails.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EEC84F-D19A-4211-BD85-221CB872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4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Strategy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245CAC-9674-4BE5-88A8-BFDC42E2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19600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F8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B6F1FD-CE5A-4B2E-9C64-84309F2C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767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Deploy a production Flask configuration with environment-managed secrets.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Use PostgreSQL and object storage for a multi-organisation rollout.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Add audit logs, notification workflows, and reporting exports.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Pilot with a focused learner cohort, then refine flows from completion and assessment feedback.</a:t>
            </a:r>
          </a:p>
        </p:txBody>
      </p:sp>
    </p:spTree>
    <p:extLst>
      <p:ext uri="{BB962C8B-B14F-4D97-AF65-F5344CB8AC3E}">
        <p14:creationId xmlns:p14="http://schemas.microsoft.com/office/powerpoint/2010/main" val="11213449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4911B0-1D6F-4AA8-82B3-F9973FDF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5B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BAB29-1EC0-4903-9F0A-7E37C976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53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5B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059E9F-A0EA-4293-8603-E3CE2681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23825"/>
            <a:ext cx="1428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D64D71-FFCE-45E3-89E8-BACDA544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905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byte force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12340-B439-4AA4-B7A6-6F54C970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23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IMPACT AND BENEFITS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19DEB-92E8-49A3-8837-D401B03A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1430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127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SMART INDIA</a:t>
            </a:r>
          </a:p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HACKATHON</a:t>
            </a:r>
          </a:p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2025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B2D245-AC6D-4F8B-881C-00007A20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81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E1378-6156-4919-B9F0-E420C3D4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42950"/>
            <a:ext cx="0" cy="57340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606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2C14F1-1AAC-49F9-A577-2DAA1F2F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6572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60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91EF20-8204-46C0-A13E-2DB976BA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89535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Direct Impact on Target Users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9B52C-682B-4295-BFF5-499BC628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171575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F8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11D209-866B-4546-A0AB-4D29184A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285875"/>
            <a:ext cx="614362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Trainees see a clear path from enrollment to assessment and certification.</a:t>
            </a:r>
          </a:p>
          <a:p xmlns:a="http://schemas.openxmlformats.org/drawingml/2006/main">
            <a:pPr>
              <a:def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Trainers can publish resources, create questionnaires, and review learner performance.</a:t>
            </a:r>
          </a:p>
          <a:p xmlns:a="http://schemas.openxmlformats.org/drawingml/2006/main">
            <a:pPr>
              <a:def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Administrators can approve users, assign roles, monitor activity, and publish announcements.</a:t>
            </a:r>
          </a:p>
          <a:p xmlns:a="http://schemas.openxmlformats.org/drawingml/2006/main">
            <a:pPr>
              <a:def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Programme managers can identify skill coverage through competency mapping.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0F10C4-13A5-453A-8233-3063B85D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2386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Strategic Impact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D86E0A-D725-4785-916B-BAE82EE0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514850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F8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93BE97-C8C6-42BE-B2CD-C10A061E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619625"/>
            <a:ext cx="61436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Creates a traceable learning record instead of isolated spreadsheets and files.</a:t>
            </a:r>
          </a:p>
          <a:p xmlns:a="http://schemas.openxmlformats.org/drawingml/2006/main">
            <a:pPr>
              <a:def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Connects trainer expertise with courses and learners' assessed outcomes.</a:t>
            </a:r>
          </a:p>
          <a:p xmlns:a="http://schemas.openxmlformats.org/drawingml/2006/main">
            <a:pPr>
              <a:def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Supports repeatable capacity-building operations across different subject areas.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E9AB4C-1808-46F5-A224-E22735C7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047750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Institutional Benefits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BE21C5-366F-4D74-9B35-E39DE4BF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323975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F8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7A725E-5A43-4BEC-95B2-B8013487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428750"/>
            <a:ext cx="4810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A central course and resource library reduces duplicated distribution effort.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Certificates provide a verifiable public reference through unique codes.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Course feedback creates a direct channel for improving learning content.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Dashboard metrics consolidate participation, assessment, and completion signals.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3DE207-8FAA-46DE-9F34-F75D23D9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8576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Capacity-building feedback loop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6B9277-BDF9-4389-AE77-9506AE35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76750"/>
            <a:ext cx="10001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F4FC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BA566D-1E64-47BE-BBF8-033ABAFF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524375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B7688B-BF05-45F5-97DA-4A64F266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10001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8C1694-81AF-4AF8-8BCC-B5DD9244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524375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C5EF7F-BF5C-4302-9CA9-5CC37CF3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76750"/>
            <a:ext cx="10001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33F68C-716B-46F9-A624-AD3CEFAA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524375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Certify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7F3024-9C3C-45D0-8281-9BF9DB5F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29250"/>
            <a:ext cx="1000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EAFB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0AB585-004C-4AF1-AD0A-E94ADBF5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476875"/>
            <a:ext cx="904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Improve</a:t>
            </a:r>
          </a:p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content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404B41-3083-4B69-AFB0-1EE605A9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24400"/>
            <a:ext cx="523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F8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5D7E89-8FDE-45FB-8F04-54F274D8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724400"/>
            <a:ext cx="523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F8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1C9467-DC0E-4EDF-9EE2-1DECA70B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972050"/>
            <a:ext cx="1533525" cy="4572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F8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7FB46D-9439-4F30-B0B3-D24019E0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972050"/>
            <a:ext cx="1028700" cy="7239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F86"/>
            </a:solidFill>
          </a:ln>
        </p:spPr>
      </p:sp>
    </p:spTree>
    <p:extLst>
      <p:ext uri="{BB962C8B-B14F-4D97-AF65-F5344CB8AC3E}">
        <p14:creationId xmlns:p14="http://schemas.microsoft.com/office/powerpoint/2010/main" val="3075236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E4D552-1933-4A97-AEAF-948AEC3A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5B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79EDD-A8E2-4B23-8A8B-185B5C12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53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5B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48BF0-73E1-43AB-8928-DBB8B8F3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23825"/>
            <a:ext cx="1428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E31E25-17C9-4C3E-A252-3D5CB111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905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byte force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AA166C-31D8-4176-9CDD-9EFE4212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23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Research and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5FBEEE-F7D6-451A-B64D-BF7FFB71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1430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127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SMART INDIA</a:t>
            </a:r>
          </a:p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HACKATHON</a:t>
            </a:r>
          </a:p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2025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4913E-5666-495F-AA27-3C061D12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81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F4AFB9-C5C7-497B-ABBF-0133B01D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42950"/>
            <a:ext cx="0" cy="57340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606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7CBF0-7870-4AA3-97F8-D4C4B2AF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60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7DFBF4-8588-4762-90C7-980AC9E1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7675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606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A73601-8616-45C3-AE5F-AB2D2743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8382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Gap and Problem Identification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0BEA72-E549-456F-A877-652F50CA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114425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F8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1A1AFF-317D-4DB2-86B5-F79689E6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200150"/>
            <a:ext cx="5476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Map the current learning journey: registration, approval, enrollment, assessment, certification, and profile evidence.</a:t>
            </a:r>
          </a:p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Identify where separate systems create duplicate records or delay programme reporting.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4DB66A-4A65-4ABF-BFB1-2DE9BB57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8382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Institutional Landscape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AEB03F-8DA6-4A2C-8CA7-D0D3A8AC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114425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F8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E7FAA3-DEE1-4601-AFFA-0D31819F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200150"/>
            <a:ext cx="5286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Interview trainees, trainers, and administrators to prioritise dashboard metrics and evidence requirements.</a:t>
            </a:r>
          </a:p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Define data-retention, privacy, and certificate-verification rules for the adopting organisation.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AAAE47-1003-4E19-B40D-0E229082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27146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Competitive and Workflow Analysis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63307C-1A3E-46D9-882A-53F836D7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2990850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F8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1DAAA7-4074-4616-B7BA-B6FB9D6D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3076575"/>
            <a:ext cx="5476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Compare current manual processes with a single portal for resources, assessments, certificates, and competency mapping.</a:t>
            </a:r>
          </a:p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Assess integration needs for existing identity, reporting, or content systems before rollout.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C1115A-441D-4DF9-AC00-0ECB3C6C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146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Prototype Evaluation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AF4485-E6D7-40B4-8D08-FDFC0139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90850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F8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F73993-5250-4A1B-9516-2D90A260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76575"/>
            <a:ext cx="52863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Test the current prototype with representative roles and record task completion, errors, and usability feedback.</a:t>
            </a:r>
          </a:p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Verify that assessment scoring, enrolment completion, certificate generation, and uploaded-resource access work end to end.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EE0127-5FFE-42B5-9488-7178053C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619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Technology Benchmarking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B9DF28-28ED-4142-883B-2C8EA300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895850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F8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2E8F1A-6D3E-4F9C-AC58-BE6ED4F7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981575"/>
            <a:ext cx="5476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Benchmark local SQLite and file uploads against managed database and object-storage options for scale and resilience.</a:t>
            </a:r>
          </a:p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Assess deployment controls: CSRF, secure sessions, audit logs, backup, and role-permission tests.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E4B5B3-AE8F-418D-9438-05D1E3E5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196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Pilot and Governance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BFE026-7A55-4B87-BE0A-2AD270A4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95850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F8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20A814-5E76-49EC-AC9A-F34E9600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981575"/>
            <a:ext cx="5286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Run a limited cohort pilot and measure enrollment, assessment completion, certificate issuance, and feedback use.</a:t>
            </a:r>
          </a:p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Document ownership for content, trainer competency verification, data protection, and support operations.</a:t>
            </a:r>
          </a:p>
        </p:txBody>
      </p:sp>
    </p:spTree>
    <p:extLst>
      <p:ext uri="{BB962C8B-B14F-4D97-AF65-F5344CB8AC3E}">
        <p14:creationId xmlns:p14="http://schemas.microsoft.com/office/powerpoint/2010/main" val="1492643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2026-09-08T15:58:23.8430000Z</dcterms:created>
  <dcterms:modified xsi:type="dcterms:W3CDTF">2026-09-08T15:58:23.8430000Z</dcterms:modified>
</coreProperties>
</file>