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c4d7005be9b460a" /><Relationship Type="http://schemas.openxmlformats.org/officeDocument/2006/relationships/extended-properties" Target="/docProps/app.xml" Id="Rd8b77486f16a4aa4" /><Relationship Type="http://schemas.openxmlformats.org/officeDocument/2006/relationships/officeDocument" Target="/ppt/presentation.xml" Id="R2c6027a04f2f4e3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379b50d428745b5"/>
  </p:sldMasterIdLst>
  <p:notesMasterIdLst>
    <p:notesMasterId xmlns:r="http://schemas.openxmlformats.org/officeDocument/2006/relationships" r:id="Rab8e047c038b44a4"/>
  </p:notesMasterIdLst>
  <p:sldIdLst>
    <p:sldId xmlns:r="http://schemas.openxmlformats.org/officeDocument/2006/relationships" id="256" r:id="R280dd3a627d549f4"/>
    <p:sldId xmlns:r="http://schemas.openxmlformats.org/officeDocument/2006/relationships" id="257" r:id="R6a3185295fd4479d"/>
    <p:sldId xmlns:r="http://schemas.openxmlformats.org/officeDocument/2006/relationships" id="258" r:id="R6ca1301023c94618"/>
    <p:sldId xmlns:r="http://schemas.openxmlformats.org/officeDocument/2006/relationships" id="259" r:id="R02765d0778af49d2"/>
    <p:sldId xmlns:r="http://schemas.openxmlformats.org/officeDocument/2006/relationships" id="260" r:id="Rf26bb33cc3ef4fca"/>
    <p:sldId xmlns:r="http://schemas.openxmlformats.org/officeDocument/2006/relationships" id="261" r:id="R4ee2c52f0c41435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24894710cb54989" /><Relationship Type="http://schemas.openxmlformats.org/officeDocument/2006/relationships/slideMaster" Target="/ppt/slideMasters/slideMaster1.xml" Id="R2379b50d428745b5" /><Relationship Type="http://schemas.openxmlformats.org/officeDocument/2006/relationships/notesMaster" Target="/ppt/notesMasters/notesMaster1.xml" Id="Rab8e047c038b44a4" /><Relationship Type="http://schemas.openxmlformats.org/officeDocument/2006/relationships/presProps" Target="/ppt/presProps.xml" Id="Refa25e9c3ff3479a" /><Relationship Type="http://schemas.openxmlformats.org/officeDocument/2006/relationships/tableStyles" Target="/ppt/tableStyles.xml" Id="Re50c2af821ad4a43" /><Relationship Type="http://schemas.openxmlformats.org/officeDocument/2006/relationships/slide" Target="/ppt/slides/slide1.xml" Id="R280dd3a627d549f4" /><Relationship Type="http://schemas.openxmlformats.org/officeDocument/2006/relationships/slide" Target="/ppt/slides/slide2.xml" Id="R6a3185295fd4479d" /><Relationship Type="http://schemas.openxmlformats.org/officeDocument/2006/relationships/slide" Target="/ppt/slides/slide3.xml" Id="R6ca1301023c94618" /><Relationship Type="http://schemas.openxmlformats.org/officeDocument/2006/relationships/slide" Target="/ppt/slides/slide4.xml" Id="R02765d0778af49d2" /><Relationship Type="http://schemas.openxmlformats.org/officeDocument/2006/relationships/slide" Target="/ppt/slides/slide5.xml" Id="Rf26bb33cc3ef4fca" /><Relationship Type="http://schemas.openxmlformats.org/officeDocument/2006/relationships/slide" Target="/ppt/slides/slide6.xml" Id="R4ee2c52f0c41435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9d66c33a44c4dc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20c1cd677094818" /><Relationship Type="http://schemas.openxmlformats.org/officeDocument/2006/relationships/notesMaster" Target="/ppt/notesMasters/notesMaster1.xml" Id="R27cd9108b41f4a1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d51f3d87caf4f01" /><Relationship Type="http://schemas.openxmlformats.org/officeDocument/2006/relationships/notesMaster" Target="/ppt/notesMasters/notesMaster1.xml" Id="R00ec0b8ce36c4a2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4cccedbb2044831" /><Relationship Type="http://schemas.openxmlformats.org/officeDocument/2006/relationships/notesMaster" Target="/ppt/notesMasters/notesMaster1.xml" Id="R29219e0e2e974dc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b0ba60443e2459a" /><Relationship Type="http://schemas.openxmlformats.org/officeDocument/2006/relationships/notesMaster" Target="/ppt/notesMasters/notesMaster1.xml" Id="R3c9b99c1bc1841e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11ab25e4d124100" /><Relationship Type="http://schemas.openxmlformats.org/officeDocument/2006/relationships/notesMaster" Target="/ppt/notesMasters/notesMaster1.xml" Id="R459fce00ca6b4ad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ae853ea48c04d5e" /><Relationship Type="http://schemas.openxmlformats.org/officeDocument/2006/relationships/notesMaster" Target="/ppt/notesMasters/notesMaster1.xml" Id="Raba597e029f54cf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 layout: SIH 2025 title slide supplied by the user. Project metadata supplied by the user.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Solution details based on app.py, models.py, and route modules in the Capacity Connect prototype.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Technology statements based on requirements.txt, config.py, app.py, models.py, templates/base.html, and routes/*.py.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Feasibility assessment is an engineering assessment based on the current prototype implementation. It does not assert market-size figures.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Impact statements describe intended operational benefits from the implemented Capacity Connect workflows.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Research plan for the Capacity Connect solution. No external statistics or unsupported results are presented.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812a4d560149d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16975638a6b4d0b" /><Relationship Type="http://schemas.openxmlformats.org/officeDocument/2006/relationships/slideLayout" Target="/ppt/slideLayouts/slideLayout1.xml" Id="Rd5c1f78331ab4eb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5c1f78331ab4eb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c7406f48574722" /><Relationship Type="http://schemas.openxmlformats.org/officeDocument/2006/relationships/notesSlide" Target="/ppt/notesSlides/notesSlide1.xml" Id="Ra598bcc6ca94422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20206d572449ad" /><Relationship Type="http://schemas.openxmlformats.org/officeDocument/2006/relationships/notesSlide" Target="/ppt/notesSlides/notesSlide2.xml" Id="R1dba032ecdf4400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01ec4adac4443e" /><Relationship Type="http://schemas.openxmlformats.org/officeDocument/2006/relationships/notesSlide" Target="/ppt/notesSlides/notesSlide3.xml" Id="Rfc1a63e0dc5a4bb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885c887cb94eaf" /><Relationship Type="http://schemas.openxmlformats.org/officeDocument/2006/relationships/notesSlide" Target="/ppt/notesSlides/notesSlide4.xml" Id="R8974fab1a05c4c3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dd25a1c3a541a3" /><Relationship Type="http://schemas.openxmlformats.org/officeDocument/2006/relationships/notesSlide" Target="/ppt/notesSlides/notesSlide5.xml" Id="R6d64e69183e1417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5ee60a924543ad" /><Relationship Type="http://schemas.openxmlformats.org/officeDocument/2006/relationships/notesSlide" Target="/ppt/notesSlides/notesSlide6.xml" Id="R6f427fe62bd84ee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D9952C-2311-4A79-A814-25770CB71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33375"/>
            <a:ext cx="819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561"/>
          </a:bodyPr>
          <a:lstStyle xmlns:a="http://schemas.openxmlformats.org/drawingml/2006/main"/>
          <a:p xmlns:a="http://schemas.openxmlformats.org/drawingml/2006/main">
            <a:pPr>
              <a:defRPr sz="2850" b="0" i="0">
                <a:solidFill>
                  <a:srgbClr val="234F86"/>
                </a:solidFill>
                <a:latin typeface="Georgia"/>
                <a:ea typeface="Georgia"/>
                <a:cs typeface="Georgia"/>
              </a:defRPr>
            </a:pPr>
            <a:r>
              <a:rPr sz="2850" b="0" i="0">
                <a:solidFill>
                  <a:srgbClr val="234F86"/>
                </a:solidFill>
                <a:latin typeface="Georgia"/>
                <a:ea typeface="Georgia"/>
                <a:cs typeface="Georgia"/>
              </a:rPr>
              <a:t>SMART INDIA HACKATHON 2025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243CAA-EA1F-4E74-A9B2-384048552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28600"/>
            <a:ext cx="161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405B6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405B66"/>
                </a:solidFill>
                <a:latin typeface="Arial"/>
                <a:ea typeface="Arial"/>
                <a:cs typeface="Arial"/>
              </a:rPr>
              <a:t>SMART INDIA</a:t>
            </a:r>
          </a:p>
          <a:p xmlns:a="http://schemas.openxmlformats.org/drawingml/2006/main">
            <a:pPr>
              <a:defRPr sz="1200" b="1" i="0">
                <a:solidFill>
                  <a:srgbClr val="405B6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405B66"/>
                </a:solidFill>
                <a:latin typeface="Arial"/>
                <a:ea typeface="Arial"/>
                <a:cs typeface="Arial"/>
              </a:rPr>
              <a:t>HACKATHON</a:t>
            </a:r>
          </a:p>
          <a:p xmlns:a="http://schemas.openxmlformats.org/drawingml/2006/main">
            <a:pPr>
              <a:defRPr sz="1200" b="1" i="0">
                <a:solidFill>
                  <a:srgbClr val="405B6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405B66"/>
                </a:solidFill>
                <a:latin typeface="Arial"/>
                <a:ea typeface="Arial"/>
                <a:cs typeface="Arial"/>
              </a:rPr>
              <a:t>2025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57BAB4-D4BA-4B06-8213-9B4D6461E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381125"/>
            <a:ext cx="4191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2475" b="1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TITLE PAGE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EDB40B-EA6A-4FE6-A11F-69531A390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38375"/>
            <a:ext cx="78105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725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Problem Statement ID - 26075</a:t>
            </a:r>
          </a:p>
          <a:p xmlns:a="http://schemas.openxmlformats.org/drawingml/2006/main">
            <a:pPr>
              <a:defRPr sz="1725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725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Problem Statement Title - CAPACITY CONNECT A Digital Capacity Building and Learning Management Portal</a:t>
            </a:r>
          </a:p>
          <a:p xmlns:a="http://schemas.openxmlformats.org/drawingml/2006/main">
            <a:pPr>
              <a:defRPr sz="1725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725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Theme - Smart Education</a:t>
            </a:r>
          </a:p>
          <a:p xmlns:a="http://schemas.openxmlformats.org/drawingml/2006/main">
            <a:pPr>
              <a:defRPr sz="1725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725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PS Category - Software</a:t>
            </a:r>
          </a:p>
          <a:p xmlns:a="http://schemas.openxmlformats.org/drawingml/2006/main">
            <a:pPr>
              <a:defRPr sz="1725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725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Team ID -</a:t>
            </a:r>
          </a:p>
          <a:p xmlns:a="http://schemas.openxmlformats.org/drawingml/2006/main">
            <a:pPr>
              <a:defRPr sz="1725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725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Team Name - byte force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7A120A-2506-4453-86A2-9BFB6E00E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66875"/>
            <a:ext cx="2857500" cy="314325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1F5F8"/>
          </a:solidFill>
          <a:ln xmlns:a="http://schemas.openxmlformats.org/drawingml/2006/main" w="9525">
            <a:solidFill>
              <a:srgbClr val="E5EBE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04E65C-8D74-46E1-BCE6-6FEF2FCAA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143125"/>
            <a:ext cx="200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581"/>
          </a:bodyPr>
          <a:lstStyle xmlns:a="http://schemas.openxmlformats.org/drawingml/2006/main"/>
          <a:p xmlns:a="http://schemas.openxmlformats.org/drawingml/2006/main">
            <a:pPr>
              <a:defRPr sz="5850" b="1" i="0">
                <a:solidFill>
                  <a:srgbClr val="0B75BD"/>
                </a:solidFill>
                <a:latin typeface="Arial"/>
                <a:ea typeface="Arial"/>
                <a:cs typeface="Arial"/>
              </a:defRPr>
            </a:pPr>
            <a:r>
              <a:rPr sz="5850" b="1" i="0">
                <a:solidFill>
                  <a:srgbClr val="0B75BD"/>
                </a:solidFill>
                <a:latin typeface="Arial"/>
                <a:ea typeface="Arial"/>
                <a:cs typeface="Arial"/>
              </a:rPr>
              <a:t>CC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CE7410-4519-4251-8E7F-3C5BE47DE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286125"/>
            <a:ext cx="2000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234F86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234F86"/>
                </a:solidFill>
                <a:latin typeface="Arial"/>
                <a:ea typeface="Arial"/>
                <a:cs typeface="Arial"/>
              </a:rPr>
              <a:t>LEARN</a:t>
            </a:r>
          </a:p>
          <a:p xmlns:a="http://schemas.openxmlformats.org/drawingml/2006/main">
            <a:pPr>
              <a:defRPr sz="1725" b="1" i="0">
                <a:solidFill>
                  <a:srgbClr val="234F86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234F86"/>
                </a:solidFill>
                <a:latin typeface="Arial"/>
                <a:ea typeface="Arial"/>
                <a:cs typeface="Arial"/>
              </a:rPr>
              <a:t>CONNECT</a:t>
            </a:r>
          </a:p>
          <a:p xmlns:a="http://schemas.openxmlformats.org/drawingml/2006/main">
            <a:pPr>
              <a:defRPr sz="1725" b="1" i="0">
                <a:solidFill>
                  <a:srgbClr val="234F86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234F86"/>
                </a:solidFill>
                <a:latin typeface="Arial"/>
                <a:ea typeface="Arial"/>
                <a:cs typeface="Arial"/>
              </a:rPr>
              <a:t>GROW</a:t>
            </a:r>
          </a:p>
        </p:txBody>
      </p:sp>
    </p:spTree>
    <p:extLst>
      <p:ext uri="{BB962C8B-B14F-4D97-AF65-F5344CB8AC3E}">
        <p14:creationId xmlns:p14="http://schemas.microsoft.com/office/powerpoint/2010/main" val="410448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2AA76F2-9802-4BAB-A9EA-E7127ADFE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96050"/>
            <a:ext cx="1219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5B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39A751-0120-4B84-8876-B2A51A2BE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95325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5BD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182074-85A6-4A27-9C8B-A5496553E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123825"/>
            <a:ext cx="1428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75B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7E57A9-1C98-46C7-BDBD-9A84DA38E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90500"/>
            <a:ext cx="1276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byte force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5003E7-9DB1-40D1-A236-36879BF03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90500"/>
            <a:ext cx="800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228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Capacity Connect: Digital Capacity Building and Learning Management Portal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A1AC1B-C45B-4436-A51D-6B740790E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114300"/>
            <a:ext cx="1676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127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405B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05B66"/>
                </a:solidFill>
                <a:latin typeface="Arial"/>
                <a:ea typeface="Arial"/>
                <a:cs typeface="Arial"/>
              </a:rPr>
              <a:t>SMART INDIA</a:t>
            </a:r>
          </a:p>
          <a:p xmlns:a="http://schemas.openxmlformats.org/drawingml/2006/main">
            <a:pPr>
              <a:defRPr sz="1050" b="1" i="0">
                <a:solidFill>
                  <a:srgbClr val="405B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05B66"/>
                </a:solidFill>
                <a:latin typeface="Arial"/>
                <a:ea typeface="Arial"/>
                <a:cs typeface="Arial"/>
              </a:rPr>
              <a:t>HACKATHON</a:t>
            </a:r>
          </a:p>
          <a:p xmlns:a="http://schemas.openxmlformats.org/drawingml/2006/main">
            <a:pPr>
              <a:defRPr sz="1050" b="1" i="0">
                <a:solidFill>
                  <a:srgbClr val="405B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05B66"/>
                </a:solidFill>
                <a:latin typeface="Arial"/>
                <a:ea typeface="Arial"/>
                <a:cs typeface="Arial"/>
              </a:rPr>
              <a:t>2025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91AC18-BD9C-4156-8F90-566BE1C5D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817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F7215E-DC36-4D0D-AEFB-5FC7A1C00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790575"/>
            <a:ext cx="9525" cy="1552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5BD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2479AD-B881-4B46-9EFC-48A77B254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828675"/>
            <a:ext cx="4667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234F86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234F86"/>
                </a:solidFill>
                <a:latin typeface="Georgia"/>
                <a:ea typeface="Georgia"/>
                <a:cs typeface="Georgia"/>
              </a:rPr>
              <a:t>Problem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6D67A5-281C-4A30-BFD0-D7537429D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104900"/>
            <a:ext cx="228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F8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BF3174-2F34-493A-880C-781D974F3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1190625"/>
            <a:ext cx="4857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15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425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Capacity-building programmes often keep learning resources, trainee progress, assessment results, and trainer expertise in separate places. Administrators have limited visibility into approvals, course completion, and competency coverage.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3C8D3B-FF7A-44BB-B3FC-8B0B5BF84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828675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234F86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234F86"/>
                </a:solidFill>
                <a:latin typeface="Georgia"/>
                <a:ea typeface="Georgia"/>
                <a:cs typeface="Georgia"/>
              </a:rPr>
              <a:t>Our Idea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E2B1D0-C798-4359-88B1-FA53B1B89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104900"/>
            <a:ext cx="228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F86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3A870F-C78C-4CD8-B94B-DB9E12118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190625"/>
            <a:ext cx="60483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425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Capacity Connect brings role-based learning, competency mapping, assessments, certificates, and resource sharing into one portal. It gives trainees, trainers, and administrators a shared operational view.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A3FBF9-B068-4557-BFA8-65577B648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3622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5BD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50C6C1-223F-4AFF-ABB5-7C5FB88A9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24288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234F86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234F86"/>
                </a:solidFill>
                <a:latin typeface="Georgia"/>
                <a:ea typeface="Georgia"/>
                <a:cs typeface="Georgia"/>
              </a:rPr>
              <a:t>Proposed Solution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6D3733-6FE4-4B1A-B7AB-911F59FB8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2705100"/>
            <a:ext cx="228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F86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9CAF50-931A-4811-93BB-B0C2B35C4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" y="2809875"/>
            <a:ext cx="4667250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Role-based accounts with administrator approval for new registrations.</a:t>
            </a:r>
          </a:p>
          <a:p xmlns:a="http://schemas.openxmlformats.org/drawingml/2006/main">
            <a:pPr>
              <a:def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Course catalogue with enrollment, progress tracking, feedback, and linked resources.</a:t>
            </a:r>
          </a:p>
          <a:p xmlns:a="http://schemas.openxmlformats.org/drawingml/2006/main">
            <a:pPr>
              <a:def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Timed MCQ assessments that calculate scores and issue certificates after a pass.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1A54DC-18BB-4867-9E15-327149ABD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28875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234F86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234F86"/>
                </a:solidFill>
                <a:latin typeface="Georgia"/>
                <a:ea typeface="Georgia"/>
                <a:cs typeface="Georgia"/>
              </a:rPr>
              <a:t>Innovation / Uniqueness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B78920-181F-4CB7-9398-707D74767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05100"/>
            <a:ext cx="228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F86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B9739C-19D9-4410-9556-E32177DCD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09875"/>
            <a:ext cx="3667125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One workflow connects learning activity with trainer competencies.</a:t>
            </a:r>
          </a:p>
          <a:p xmlns:a="http://schemas.openxmlformats.org/drawingml/2006/main">
            <a:pPr>
              <a:def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Certificates and assessment outcomes become part of each learner profile.</a:t>
            </a:r>
          </a:p>
          <a:p xmlns:a="http://schemas.openxmlformats.org/drawingml/2006/main">
            <a:pPr>
              <a:def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Administrators can monitor users, approvals, courses, submissions, and announcements from one console.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092B405-2AD6-4A6C-A5DD-5357E663E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714750"/>
            <a:ext cx="1952625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DBEDFB"/>
          </a:solidFill>
          <a:ln xmlns:a="http://schemas.openxmlformats.org/drawingml/2006/main" w="9525">
            <a:solidFill>
              <a:srgbClr val="0B75BD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72836B-2299-4E8B-A22D-82A70E560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762375"/>
            <a:ext cx="1857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234F86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34F86"/>
                </a:solidFill>
                <a:latin typeface="Arial"/>
                <a:ea typeface="Arial"/>
                <a:cs typeface="Arial"/>
              </a:rPr>
              <a:t>Capacity</a:t>
            </a:r>
          </a:p>
          <a:p xmlns:a="http://schemas.openxmlformats.org/drawingml/2006/main">
            <a:pPr>
              <a:defRPr sz="1125" b="1" i="0">
                <a:solidFill>
                  <a:srgbClr val="234F86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34F86"/>
                </a:solidFill>
                <a:latin typeface="Arial"/>
                <a:ea typeface="Arial"/>
                <a:cs typeface="Arial"/>
              </a:rPr>
              <a:t>Connect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CEF435-F271-490F-A002-0B64A3275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810125"/>
            <a:ext cx="14287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4D7"/>
          </a:solidFill>
          <a:ln xmlns:a="http://schemas.openxmlformats.org/drawingml/2006/main" w="9525">
            <a:solidFill>
              <a:srgbClr val="0B75BD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B9DF0D-BB31-454A-9B96-2DEE3ABD5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57750"/>
            <a:ext cx="133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Courses &amp;</a:t>
            </a:r>
          </a:p>
          <a:p xmlns:a="http://schemas.openxmlformats.org/drawingml/2006/main">
            <a:pPr>
              <a:defRPr sz="11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Resources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BB62C0-70B6-4DA8-898B-CE2017CF2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05375"/>
            <a:ext cx="157162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AF7F2"/>
          </a:solidFill>
          <a:ln xmlns:a="http://schemas.openxmlformats.org/drawingml/2006/main" w="9525">
            <a:solidFill>
              <a:srgbClr val="0B75BD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9E4EC9-AEB9-4927-97DF-1980D7DDA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953000"/>
            <a:ext cx="1476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Assessments &amp;</a:t>
            </a:r>
          </a:p>
          <a:p xmlns:a="http://schemas.openxmlformats.org/drawingml/2006/main">
            <a:pPr>
              <a:defRPr sz="11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Certificates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5D3AF45-C6F5-40FB-9296-DAA6E0D8D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810125"/>
            <a:ext cx="14287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4EAFB"/>
          </a:solidFill>
          <a:ln xmlns:a="http://schemas.openxmlformats.org/drawingml/2006/main" w="9525">
            <a:solidFill>
              <a:srgbClr val="0B75BD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04DCFD5-EEB8-48C3-BD47-5FCFC5165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57750"/>
            <a:ext cx="133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Competency</a:t>
            </a:r>
          </a:p>
          <a:p xmlns:a="http://schemas.openxmlformats.org/drawingml/2006/main">
            <a:pPr>
              <a:defRPr sz="1125" b="1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Mapping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48B864A-F56E-4AEE-8A8B-4814736B5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448175"/>
            <a:ext cx="1666875" cy="36195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234F86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EEC99A7-A44E-434E-9ACB-C1CA14842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448175"/>
            <a:ext cx="14288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F86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F09D367-80C2-4D14-9D46-5F38FFF9B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48175"/>
            <a:ext cx="1524000" cy="36195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234F86"/>
            </a:solidFill>
          </a:ln>
        </p:spPr>
      </p:sp>
    </p:spTree>
    <p:extLst>
      <p:ext uri="{BB962C8B-B14F-4D97-AF65-F5344CB8AC3E}">
        <p14:creationId xmlns:p14="http://schemas.microsoft.com/office/powerpoint/2010/main" val="18666807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761D791-99FF-459F-91F6-9EE18C95E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96050"/>
            <a:ext cx="1219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5B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C0662B-47B6-4F63-8106-C1F742D61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95325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5BD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6A7021-247E-403A-91C0-490B80F5E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123825"/>
            <a:ext cx="1428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75B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C9C3DD-FD3D-49CE-BDDF-1061FFD89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90500"/>
            <a:ext cx="1276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byte force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88DA13-19C3-44CF-B428-C1D4D0D8A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90500"/>
            <a:ext cx="800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654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TECHNICAL APPROACH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AF3E66-0DB1-46A6-9BAE-26EE175C2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114300"/>
            <a:ext cx="1676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127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405B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05B66"/>
                </a:solidFill>
                <a:latin typeface="Arial"/>
                <a:ea typeface="Arial"/>
                <a:cs typeface="Arial"/>
              </a:rPr>
              <a:t>SMART INDIA</a:t>
            </a:r>
          </a:p>
          <a:p xmlns:a="http://schemas.openxmlformats.org/drawingml/2006/main">
            <a:pPr>
              <a:defRPr sz="1050" b="1" i="0">
                <a:solidFill>
                  <a:srgbClr val="405B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05B66"/>
                </a:solidFill>
                <a:latin typeface="Arial"/>
                <a:ea typeface="Arial"/>
                <a:cs typeface="Arial"/>
              </a:rPr>
              <a:t>HACKATHON</a:t>
            </a:r>
          </a:p>
          <a:p xmlns:a="http://schemas.openxmlformats.org/drawingml/2006/main">
            <a:pPr>
              <a:defRPr sz="1050" b="1" i="0">
                <a:solidFill>
                  <a:srgbClr val="405B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05B66"/>
                </a:solidFill>
                <a:latin typeface="Arial"/>
                <a:ea typeface="Arial"/>
                <a:cs typeface="Arial"/>
              </a:rPr>
              <a:t>2025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E1BD07-C6C4-43A5-8517-A712747B4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817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824E0D-7EF0-4EEC-9A4B-7705B47EA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742950"/>
            <a:ext cx="9525" cy="573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606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DA70D2-026E-4FFE-A5AD-EBDE9A9D1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9048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500" b="1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Technology Stack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8E100A-ADB1-4474-894E-53DF89515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1266825"/>
            <a:ext cx="3295650" cy="442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Flask routes and Jinja templates render the web interface.</a:t>
            </a:r>
          </a:p>
          <a:p xmlns:a="http://schemas.openxmlformats.org/drawingml/2006/main">
            <a:pPr>
              <a:defRPr sz="1200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Tailwind CSS, Lucide icons, Chart.js, and Google Fonts shape the UI.</a:t>
            </a:r>
          </a:p>
          <a:p xmlns:a="http://schemas.openxmlformats.org/drawingml/2006/main">
            <a:pPr>
              <a:defRPr sz="1200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Flask-SQLAlchemy and SQLAlchemy manage application data.</a:t>
            </a:r>
          </a:p>
          <a:p xmlns:a="http://schemas.openxmlformats.org/drawingml/2006/main">
            <a:pPr>
              <a:defRPr sz="1200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SQLite stores users, courses, assessments, enrolments, certificates, and more.</a:t>
            </a:r>
          </a:p>
          <a:p xmlns:a="http://schemas.openxmlformats.org/drawingml/2006/main">
            <a:pPr>
              <a:defRPr sz="1200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Werkzeug hashes passwords and safely names uploaded files.</a:t>
            </a:r>
          </a:p>
          <a:p xmlns:a="http://schemas.openxmlformats.org/drawingml/2006/main">
            <a:pPr>
              <a:defRPr sz="1200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Local static uploads store learning resources and external certificates.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16071A-6C9B-492A-AF50-C60BEFDD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8763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234F86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234F86"/>
                </a:solidFill>
                <a:latin typeface="Georgia"/>
                <a:ea typeface="Georgia"/>
                <a:cs typeface="Georgia"/>
              </a:rPr>
              <a:t>Application Flow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ABCFE1-344C-4211-8E92-7379372A0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1152525"/>
            <a:ext cx="228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F86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7990D7-7D14-448C-BB00-286C63B75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381125"/>
            <a:ext cx="185737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8F4FC"/>
          </a:solidFill>
          <a:ln xmlns:a="http://schemas.openxmlformats.org/drawingml/2006/main" w="9525">
            <a:solidFill>
              <a:srgbClr val="0B75BD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918751-F85A-44BA-9DF5-15D8DA832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428750"/>
            <a:ext cx="1762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234F86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34F86"/>
                </a:solidFill>
                <a:latin typeface="Arial"/>
                <a:ea typeface="Arial"/>
                <a:cs typeface="Arial"/>
              </a:rPr>
              <a:t>Sign in / Registration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BB5F17-0F35-487C-BCFF-24E11E7D6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047875"/>
            <a:ext cx="185737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7F2"/>
          </a:solidFill>
          <a:ln xmlns:a="http://schemas.openxmlformats.org/drawingml/2006/main" w="9525">
            <a:solidFill>
              <a:srgbClr val="0B75BD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94485B-2047-49DC-AD06-6A9385BA3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095500"/>
            <a:ext cx="1762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234F86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34F86"/>
                </a:solidFill>
                <a:latin typeface="Arial"/>
                <a:ea typeface="Arial"/>
                <a:cs typeface="Arial"/>
              </a:rPr>
              <a:t>Role-based Dashboard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F1C326-7AD0-46B6-B196-5ACEA619F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14625"/>
            <a:ext cx="261937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4D7"/>
          </a:solidFill>
          <a:ln xmlns:a="http://schemas.openxmlformats.org/drawingml/2006/main" w="9525">
            <a:solidFill>
              <a:srgbClr val="0B75BD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0B8E9F-A84C-4B72-B370-15485C02B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762250"/>
            <a:ext cx="2524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234F86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34F86"/>
                </a:solidFill>
                <a:latin typeface="Arial"/>
                <a:ea typeface="Arial"/>
                <a:cs typeface="Arial"/>
              </a:rPr>
              <a:t>Courses, Resources &amp; Enrollment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37427B-3F90-413C-80CD-0EF0759D1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429000"/>
            <a:ext cx="195262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4EAFB"/>
          </a:solidFill>
          <a:ln xmlns:a="http://schemas.openxmlformats.org/drawingml/2006/main" w="9525">
            <a:solidFill>
              <a:srgbClr val="0B75BD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008403-DFA1-4EC9-A30F-8A66BE024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76625"/>
            <a:ext cx="1857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863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234F86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34F86"/>
                </a:solidFill>
                <a:latin typeface="Arial"/>
                <a:ea typeface="Arial"/>
                <a:cs typeface="Arial"/>
              </a:rPr>
              <a:t>Assessment Submission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ACB8D7-7E13-49E8-80B9-92998F55F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095750"/>
            <a:ext cx="280987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8F4FC"/>
          </a:solidFill>
          <a:ln xmlns:a="http://schemas.openxmlformats.org/drawingml/2006/main" w="9525">
            <a:solidFill>
              <a:srgbClr val="0B75BD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F5D7E9-E4AF-4167-8D53-A0F16DD40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143375"/>
            <a:ext cx="2714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234F86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34F86"/>
                </a:solidFill>
                <a:latin typeface="Arial"/>
                <a:ea typeface="Arial"/>
                <a:cs typeface="Arial"/>
              </a:rPr>
              <a:t>Score, Certificate &amp; Progress Update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2F0894-7688-4831-8553-9DFECC9E1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1790700"/>
            <a:ext cx="19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F86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477925-E7A8-4090-84A2-AAD32CB0D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457450"/>
            <a:ext cx="190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F86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09B89F-C801-4D76-9FAE-26EDB755F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152775"/>
            <a:ext cx="190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F86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E4AFD3-D6AA-4D11-B0A5-88A0B9A2D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829050"/>
            <a:ext cx="19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F86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624513-9736-46D9-A29A-4F9CDFB01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876300"/>
            <a:ext cx="3762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234F86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234F86"/>
                </a:solidFill>
                <a:latin typeface="Georgia"/>
                <a:ea typeface="Georgia"/>
                <a:cs typeface="Georgia"/>
              </a:rPr>
              <a:t>Data and Storage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D69E79-31DE-4E9B-BA56-1D097E4F5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52525"/>
            <a:ext cx="228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F86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DB040A-F9A2-4A5D-97A5-805E8914D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71625"/>
            <a:ext cx="200025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EAF7F2"/>
          </a:solidFill>
          <a:ln xmlns:a="http://schemas.openxmlformats.org/drawingml/2006/main" w="9525">
            <a:solidFill>
              <a:srgbClr val="0B75BD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871CAB8-B1FB-4D51-B3FA-F8B366922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619250"/>
            <a:ext cx="190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234F86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34F86"/>
                </a:solidFill>
                <a:latin typeface="Arial"/>
                <a:ea typeface="Arial"/>
                <a:cs typeface="Arial"/>
              </a:rPr>
              <a:t>Browser</a:t>
            </a:r>
          </a:p>
          <a:p xmlns:a="http://schemas.openxmlformats.org/drawingml/2006/main">
            <a:pPr>
              <a:defRPr sz="1125" b="1" i="0">
                <a:solidFill>
                  <a:srgbClr val="234F86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34F86"/>
                </a:solidFill>
                <a:latin typeface="Arial"/>
                <a:ea typeface="Arial"/>
                <a:cs typeface="Arial"/>
              </a:rPr>
              <a:t>Jinja + Tailwind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4C6F64F-F82A-4F3F-99E2-28D4A9DD5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71750"/>
            <a:ext cx="200025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E9F4FC"/>
          </a:solidFill>
          <a:ln xmlns:a="http://schemas.openxmlformats.org/drawingml/2006/main" w="9525">
            <a:solidFill>
              <a:srgbClr val="0B75BD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ECC59EF-4E53-46EA-8FD9-0C86E1C61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619375"/>
            <a:ext cx="190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234F86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34F86"/>
                </a:solidFill>
                <a:latin typeface="Arial"/>
                <a:ea typeface="Arial"/>
                <a:cs typeface="Arial"/>
              </a:rPr>
              <a:t>Flask</a:t>
            </a:r>
          </a:p>
          <a:p xmlns:a="http://schemas.openxmlformats.org/drawingml/2006/main">
            <a:pPr>
              <a:defRPr sz="1125" b="1" i="0">
                <a:solidFill>
                  <a:srgbClr val="234F86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34F86"/>
                </a:solidFill>
                <a:latin typeface="Arial"/>
                <a:ea typeface="Arial"/>
                <a:cs typeface="Arial"/>
              </a:rPr>
              <a:t>Blueprint routes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6869683-6F12-4C86-8D74-7607307D4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71875"/>
            <a:ext cx="200025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4D7"/>
          </a:solidFill>
          <a:ln xmlns:a="http://schemas.openxmlformats.org/drawingml/2006/main" w="9525">
            <a:solidFill>
              <a:srgbClr val="0B75BD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3C09C2C-3567-40D6-BDAC-191F614AC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619500"/>
            <a:ext cx="190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234F86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34F86"/>
                </a:solidFill>
                <a:latin typeface="Arial"/>
                <a:ea typeface="Arial"/>
                <a:cs typeface="Arial"/>
              </a:rPr>
              <a:t>SQLAlchemy</a:t>
            </a:r>
          </a:p>
          <a:p xmlns:a="http://schemas.openxmlformats.org/drawingml/2006/main">
            <a:pPr>
              <a:defRPr sz="1125" b="1" i="0">
                <a:solidFill>
                  <a:srgbClr val="234F86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34F86"/>
                </a:solidFill>
                <a:latin typeface="Arial"/>
                <a:ea typeface="Arial"/>
                <a:cs typeface="Arial"/>
              </a:rPr>
              <a:t>models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FFB7400-7CD9-4929-95B7-61384F658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572000"/>
            <a:ext cx="200025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4EAFB"/>
          </a:solidFill>
          <a:ln xmlns:a="http://schemas.openxmlformats.org/drawingml/2006/main" w="9525">
            <a:solidFill>
              <a:srgbClr val="0B75BD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87FD100-9085-4C09-99CF-1A4C1E4FB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619625"/>
            <a:ext cx="190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234F86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34F86"/>
                </a:solidFill>
                <a:latin typeface="Arial"/>
                <a:ea typeface="Arial"/>
                <a:cs typeface="Arial"/>
              </a:rPr>
              <a:t>SQLite DB +</a:t>
            </a:r>
          </a:p>
          <a:p xmlns:a="http://schemas.openxmlformats.org/drawingml/2006/main">
            <a:pPr>
              <a:defRPr sz="1125" b="1" i="0">
                <a:solidFill>
                  <a:srgbClr val="234F86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34F86"/>
                </a:solidFill>
                <a:latin typeface="Arial"/>
                <a:ea typeface="Arial"/>
                <a:cs typeface="Arial"/>
              </a:rPr>
              <a:t>static/uploads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57D1D98-AFA5-4181-AC0E-5B8260F7C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190750"/>
            <a:ext cx="19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F86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A6FE73B-B7C6-4A95-A60F-F96DAF053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190875"/>
            <a:ext cx="19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F86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85C5AEA-9582-4416-801A-B11933A3B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191000"/>
            <a:ext cx="19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F86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F5AE986-AC36-475B-B7A1-F8739950E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619750"/>
            <a:ext cx="4286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C8E5"/>
          </a:solidFill>
          <a:ln xmlns:a="http://schemas.openxmlformats.org/drawingml/2006/main" w="9525">
            <a:solidFill>
              <a:srgbClr val="8CAFCF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4D0446E-A749-4C30-8682-FCEF04EBA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743575"/>
            <a:ext cx="3905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146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234F8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34F86"/>
                </a:solidFill>
                <a:latin typeface="Arial"/>
                <a:ea typeface="Arial"/>
                <a:cs typeface="Arial"/>
              </a:rPr>
              <a:t>Functional local web prototype</a:t>
            </a:r>
          </a:p>
          <a:p xmlns:a="http://schemas.openxmlformats.org/drawingml/2006/main">
            <a:pPr>
              <a:defRPr sz="1200" b="1" i="0">
                <a:solidFill>
                  <a:srgbClr val="234F8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34F86"/>
                </a:solidFill>
                <a:latin typeface="Arial"/>
                <a:ea typeface="Arial"/>
                <a:cs typeface="Arial"/>
              </a:rPr>
              <a:t>Core LMS workflows are implemented</a:t>
            </a:r>
          </a:p>
        </p:txBody>
      </p:sp>
    </p:spTree>
    <p:extLst>
      <p:ext uri="{BB962C8B-B14F-4D97-AF65-F5344CB8AC3E}">
        <p14:creationId xmlns:p14="http://schemas.microsoft.com/office/powerpoint/2010/main" val="4767252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3966D9-F933-4622-8D6E-FFE5FCED5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96050"/>
            <a:ext cx="1219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5B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CF542D-11B5-4BE7-B651-5A5E6B526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95325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5BD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BDF3D1-E743-43FD-BA93-3B7B27629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123825"/>
            <a:ext cx="1428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75B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A1C5C9-5C3F-4CDB-A6CE-1E2B42C1B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90500"/>
            <a:ext cx="1276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byte force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EC2ABB-D6AB-47AD-83D4-F4F920733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90500"/>
            <a:ext cx="800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654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FEASIBILITY AND VIABILITY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0380F2-C65E-4148-AFAE-74BFB1BBB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114300"/>
            <a:ext cx="1676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127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405B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05B66"/>
                </a:solidFill>
                <a:latin typeface="Arial"/>
                <a:ea typeface="Arial"/>
                <a:cs typeface="Arial"/>
              </a:rPr>
              <a:t>SMART INDIA</a:t>
            </a:r>
          </a:p>
          <a:p xmlns:a="http://schemas.openxmlformats.org/drawingml/2006/main">
            <a:pPr>
              <a:defRPr sz="1050" b="1" i="0">
                <a:solidFill>
                  <a:srgbClr val="405B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05B66"/>
                </a:solidFill>
                <a:latin typeface="Arial"/>
                <a:ea typeface="Arial"/>
                <a:cs typeface="Arial"/>
              </a:rPr>
              <a:t>HACKATHON</a:t>
            </a:r>
          </a:p>
          <a:p xmlns:a="http://schemas.openxmlformats.org/drawingml/2006/main">
            <a:pPr>
              <a:defRPr sz="1050" b="1" i="0">
                <a:solidFill>
                  <a:srgbClr val="405B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05B66"/>
                </a:solidFill>
                <a:latin typeface="Arial"/>
                <a:ea typeface="Arial"/>
                <a:cs typeface="Arial"/>
              </a:rPr>
              <a:t>2025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F20364-E21E-46B9-B593-ED7FC7B6C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817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4DC6CE-9B91-469F-B554-FD28250DA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742950"/>
            <a:ext cx="9525" cy="573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606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39B463-7659-4901-9877-0D581DA62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386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606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A5153E-FB6D-47A5-A7B1-88662D9E5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8382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234F86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234F86"/>
                </a:solidFill>
                <a:latin typeface="Georgia"/>
                <a:ea typeface="Georgia"/>
                <a:cs typeface="Georgia"/>
              </a:rPr>
              <a:t>Feasibility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FE03EE-A3EC-4904-841E-547E0BA9F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1114425"/>
            <a:ext cx="228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F8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CA67C0-F4DF-4C07-B12E-BABE4540C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1200150"/>
            <a:ext cx="56197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The working prototype already covers accounts, approvals, courses, enrolments, assessments, certificates, and resources.</a:t>
            </a:r>
          </a:p>
          <a:p xmlns:a="http://schemas.openxmlformats.org/drawingml/2006/main">
            <a:pPr>
              <a:def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Flask and SQLite support rapid local deployment with low infrastructure requirements.</a:t>
            </a:r>
          </a:p>
          <a:p xmlns:a="http://schemas.openxmlformats.org/drawingml/2006/main">
            <a:pPr>
              <a:def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The data model separates users, learning activity, trainer competencies, and content records.</a:t>
            </a:r>
          </a:p>
          <a:p xmlns:a="http://schemas.openxmlformats.org/drawingml/2006/main">
            <a:pPr>
              <a:def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Server-rendered pages keep the initial implementation straightforward to maintain.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09CBBB-C9A1-4E67-B42E-EBF0FBCFC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02870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234F86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234F86"/>
                </a:solidFill>
                <a:latin typeface="Georgia"/>
                <a:ea typeface="Georgia"/>
                <a:cs typeface="Georgia"/>
              </a:rPr>
              <a:t>Commercial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7D07CF-A304-4BC0-8D81-1905EF8C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304925"/>
            <a:ext cx="228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F8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831EC2-B469-4834-A96C-2AEE0367A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428750"/>
            <a:ext cx="53340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A shared portal can replace fragmented trackers and manual approval workflows.</a:t>
            </a:r>
          </a:p>
          <a:p xmlns:a="http://schemas.openxmlformats.org/drawingml/2006/main">
            <a:pPr>
              <a:def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Role-based access supports internal academies, training partners, and public-sector capacity programmes.</a:t>
            </a:r>
          </a:p>
          <a:p xmlns:a="http://schemas.openxmlformats.org/drawingml/2006/main">
            <a:pPr>
              <a:def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The modular data model can move from SQLite to a managed database as usage grows.</a:t>
            </a:r>
          </a:p>
          <a:p xmlns:a="http://schemas.openxmlformats.org/drawingml/2006/main">
            <a:pPr>
              <a:def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The platform can add organisation-specific course catalogues and reporting without changing its core user journeys.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B504E4-C447-46F2-8DAE-DCF9A4916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414337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234F86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234F86"/>
                </a:solidFill>
                <a:latin typeface="Georgia"/>
                <a:ea typeface="Georgia"/>
                <a:cs typeface="Georgia"/>
              </a:rPr>
              <a:t>Challenges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BB8C2C-BC99-4952-BF3C-E5209F08E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4419600"/>
            <a:ext cx="228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F86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B3F5C0-8D33-4277-932A-31D7FA681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4476750"/>
            <a:ext cx="5619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Demo quick-login and automatic admin access need removal before deployment.</a:t>
            </a:r>
          </a:p>
          <a:p xmlns:a="http://schemas.openxmlformats.org/drawingml/2006/main">
            <a:pPr>
              <a:def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File uploads need extension validation, virus scanning, and managed storage.</a:t>
            </a:r>
          </a:p>
          <a:p xmlns:a="http://schemas.openxmlformats.org/drawingml/2006/main">
            <a:pPr>
              <a:def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SQLite and local files limit concurrent, multi-server operation.</a:t>
            </a:r>
          </a:p>
          <a:p xmlns:a="http://schemas.openxmlformats.org/drawingml/2006/main">
            <a:pPr>
              <a:def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Forms need CSRF protection and stronger audit trails.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3D961DC-69B4-4DD5-ACF5-2B4C5EE5D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14337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234F86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234F86"/>
                </a:solidFill>
                <a:latin typeface="Georgia"/>
                <a:ea typeface="Georgia"/>
                <a:cs typeface="Georgia"/>
              </a:rPr>
              <a:t>Strategy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002820-40F7-4427-A701-50507F806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419600"/>
            <a:ext cx="228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F86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6BA8EB-7790-43DD-AA77-5C8DB6B6A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476750"/>
            <a:ext cx="5334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Deploy a production Flask configuration with environment-managed secrets.</a:t>
            </a:r>
          </a:p>
          <a:p xmlns:a="http://schemas.openxmlformats.org/drawingml/2006/main">
            <a:pPr>
              <a:def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Use PostgreSQL and object storage for a multi-organisation rollout.</a:t>
            </a:r>
          </a:p>
          <a:p xmlns:a="http://schemas.openxmlformats.org/drawingml/2006/main">
            <a:pPr>
              <a:def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Add audit logs, notification workflows, and reporting exports.</a:t>
            </a:r>
          </a:p>
          <a:p xmlns:a="http://schemas.openxmlformats.org/drawingml/2006/main">
            <a:pPr>
              <a:def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Pilot with a focused learner cohort, then refine flows from completion and assessment feedback.</a:t>
            </a:r>
          </a:p>
        </p:txBody>
      </p:sp>
    </p:spTree>
    <p:extLst>
      <p:ext uri="{BB962C8B-B14F-4D97-AF65-F5344CB8AC3E}">
        <p14:creationId xmlns:p14="http://schemas.microsoft.com/office/powerpoint/2010/main" val="3388978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0D01DD4-11E4-4DC1-B700-EFCF660D5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96050"/>
            <a:ext cx="1219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5B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C6B88A-AB0C-4B87-B9AF-2D166F0E6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95325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5BD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65B5C0-2452-4F1A-B2D1-0442D39AE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123825"/>
            <a:ext cx="1428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75B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FEB39F-41D6-4123-8EA8-15041227B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90500"/>
            <a:ext cx="1276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byte force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61D63D-B68D-40B5-B0DF-5F5F62B57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90500"/>
            <a:ext cx="800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654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IMPACT AND BENEFITS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995BBD-0383-42CB-BC0D-C91A7F5D0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114300"/>
            <a:ext cx="1676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127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405B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05B66"/>
                </a:solidFill>
                <a:latin typeface="Arial"/>
                <a:ea typeface="Arial"/>
                <a:cs typeface="Arial"/>
              </a:rPr>
              <a:t>SMART INDIA</a:t>
            </a:r>
          </a:p>
          <a:p xmlns:a="http://schemas.openxmlformats.org/drawingml/2006/main">
            <a:pPr>
              <a:defRPr sz="1050" b="1" i="0">
                <a:solidFill>
                  <a:srgbClr val="405B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05B66"/>
                </a:solidFill>
                <a:latin typeface="Arial"/>
                <a:ea typeface="Arial"/>
                <a:cs typeface="Arial"/>
              </a:rPr>
              <a:t>HACKATHON</a:t>
            </a:r>
          </a:p>
          <a:p xmlns:a="http://schemas.openxmlformats.org/drawingml/2006/main">
            <a:pPr>
              <a:defRPr sz="1050" b="1" i="0">
                <a:solidFill>
                  <a:srgbClr val="405B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05B66"/>
                </a:solidFill>
                <a:latin typeface="Arial"/>
                <a:ea typeface="Arial"/>
                <a:cs typeface="Arial"/>
              </a:rPr>
              <a:t>2025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CB4AF7-8DC6-4723-B604-8DF90B995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817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28F80C-91E2-4B71-89DB-EAF1EFC66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742950"/>
            <a:ext cx="9525" cy="573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606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8AF653-1C2A-4716-A48B-DE1338433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14800"/>
            <a:ext cx="657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606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53BE01-A703-4647-B90A-7732A3387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895350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234F86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234F86"/>
                </a:solidFill>
                <a:latin typeface="Georgia"/>
                <a:ea typeface="Georgia"/>
                <a:cs typeface="Georgia"/>
              </a:rPr>
              <a:t>Direct Impact on Target Users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F734FE-CAE7-4F29-801A-CE9C06FBF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1171575"/>
            <a:ext cx="228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F8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D55E9C4-E1C2-4E80-8A8D-72A91F02F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1285875"/>
            <a:ext cx="6143625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350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Trainees see a clear path from enrollment to assessment and certification.</a:t>
            </a:r>
          </a:p>
          <a:p xmlns:a="http://schemas.openxmlformats.org/drawingml/2006/main">
            <a:pPr>
              <a:defRPr sz="1350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350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Trainers can publish resources, create questionnaires, and review learner performance.</a:t>
            </a:r>
          </a:p>
          <a:p xmlns:a="http://schemas.openxmlformats.org/drawingml/2006/main">
            <a:pPr>
              <a:defRPr sz="1350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350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Administrators can approve users, assign roles, monitor activity, and publish announcements.</a:t>
            </a:r>
          </a:p>
          <a:p xmlns:a="http://schemas.openxmlformats.org/drawingml/2006/main">
            <a:pPr>
              <a:defRPr sz="1350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350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Programme managers can identify skill coverage through competency mapping.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1C5C66-ACA7-49F5-97B2-A7717541B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423862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234F86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234F86"/>
                </a:solidFill>
                <a:latin typeface="Georgia"/>
                <a:ea typeface="Georgia"/>
                <a:cs typeface="Georgia"/>
              </a:rPr>
              <a:t>Strategic Impact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CF21AE-1023-4856-8FA0-440483D00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4514850"/>
            <a:ext cx="228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F8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316BAD-7AE1-4071-8355-F28E9438B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4619625"/>
            <a:ext cx="61436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350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Creates a traceable learning record instead of isolated spreadsheets and files.</a:t>
            </a:r>
          </a:p>
          <a:p xmlns:a="http://schemas.openxmlformats.org/drawingml/2006/main">
            <a:pPr>
              <a:defRPr sz="1350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350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Connects trainer expertise with courses and learners' assessed outcomes.</a:t>
            </a:r>
          </a:p>
          <a:p xmlns:a="http://schemas.openxmlformats.org/drawingml/2006/main">
            <a:pPr>
              <a:defRPr sz="1350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350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Supports repeatable capacity-building operations across different subject areas.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A15F2B-4894-438D-B350-DC7BF9975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047750"/>
            <a:ext cx="423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234F86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234F86"/>
                </a:solidFill>
                <a:latin typeface="Georgia"/>
                <a:ea typeface="Georgia"/>
                <a:cs typeface="Georgia"/>
              </a:rPr>
              <a:t>Institutional Benefits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64CF11-0FD5-4F34-99EB-F308F9DB2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323975"/>
            <a:ext cx="228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F86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622A5D-A585-4CB6-9847-C1D236E2A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428750"/>
            <a:ext cx="48101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A central course and resource library reduces duplicated distribution effort.</a:t>
            </a:r>
          </a:p>
          <a:p xmlns:a="http://schemas.openxmlformats.org/drawingml/2006/main">
            <a:pPr>
              <a:def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Certificates provide a verifiable public reference through unique codes.</a:t>
            </a:r>
          </a:p>
          <a:p xmlns:a="http://schemas.openxmlformats.org/drawingml/2006/main">
            <a:pPr>
              <a:def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Course feedback creates a direct channel for improving learning content.</a:t>
            </a:r>
          </a:p>
          <a:p xmlns:a="http://schemas.openxmlformats.org/drawingml/2006/main">
            <a:pPr>
              <a:def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275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Dashboard metrics consolidate participation, assessment, and completion signals.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346569-00FE-4670-94DF-9CA6ADF2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857625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234F8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234F86"/>
                </a:solidFill>
                <a:latin typeface="Arial"/>
                <a:ea typeface="Arial"/>
                <a:cs typeface="Arial"/>
              </a:rPr>
              <a:t>Capacity-building feedback loop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B6A40B-0BAE-4DA6-9337-C099558BC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76750"/>
            <a:ext cx="1000125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8F4FC"/>
          </a:solidFill>
          <a:ln xmlns:a="http://schemas.openxmlformats.org/drawingml/2006/main" w="9525">
            <a:solidFill>
              <a:srgbClr val="0B75BD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79B4AE-E286-4120-8D11-C37BFC438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524375"/>
            <a:ext cx="904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234F86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34F86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5E2A8B-7BA8-406D-A75D-A1DF802B7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476750"/>
            <a:ext cx="1000125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4D7"/>
          </a:solidFill>
          <a:ln xmlns:a="http://schemas.openxmlformats.org/drawingml/2006/main" w="9525">
            <a:solidFill>
              <a:srgbClr val="0B75BD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D3BAAF-73AA-490A-985E-7FAC55E7C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524375"/>
            <a:ext cx="904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234F86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34F86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222149-E1F8-4C8A-BFBF-47DF94EBB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4476750"/>
            <a:ext cx="1000125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7F2"/>
          </a:solidFill>
          <a:ln xmlns:a="http://schemas.openxmlformats.org/drawingml/2006/main" w="9525">
            <a:solidFill>
              <a:srgbClr val="0B75BD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E18291-DEC7-42A8-B0CE-624090375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524375"/>
            <a:ext cx="904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234F86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34F86"/>
                </a:solidFill>
                <a:latin typeface="Arial"/>
                <a:ea typeface="Arial"/>
                <a:cs typeface="Arial"/>
              </a:rPr>
              <a:t>Certify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A6DB6A-9C3F-4B99-88F5-1AC4BBDB9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429250"/>
            <a:ext cx="100012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4EAFB"/>
          </a:solidFill>
          <a:ln xmlns:a="http://schemas.openxmlformats.org/drawingml/2006/main" w="9525">
            <a:solidFill>
              <a:srgbClr val="0B75BD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693E7DB-6B83-4740-871F-ABFE75A14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5476875"/>
            <a:ext cx="904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234F86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34F86"/>
                </a:solidFill>
                <a:latin typeface="Arial"/>
                <a:ea typeface="Arial"/>
                <a:cs typeface="Arial"/>
              </a:rPr>
              <a:t>Improve</a:t>
            </a:r>
          </a:p>
          <a:p xmlns:a="http://schemas.openxmlformats.org/drawingml/2006/main">
            <a:pPr>
              <a:defRPr sz="1125" b="1" i="0">
                <a:solidFill>
                  <a:srgbClr val="234F86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34F86"/>
                </a:solidFill>
                <a:latin typeface="Arial"/>
                <a:ea typeface="Arial"/>
                <a:cs typeface="Arial"/>
              </a:rPr>
              <a:t>content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78D831F-5E1D-4E60-A034-00F887AD4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724400"/>
            <a:ext cx="523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F86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448A68-4F4A-49BA-9D4D-95452AB91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724400"/>
            <a:ext cx="523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F86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E6F3705-CCB6-41FA-A4EC-B384D97C4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972050"/>
            <a:ext cx="1533525" cy="4572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34F86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5DB75F7-1A5D-4DC7-A279-9EF08D79D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972050"/>
            <a:ext cx="1028700" cy="72390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34F86"/>
            </a:solidFill>
          </a:ln>
        </p:spPr>
      </p:sp>
    </p:spTree>
    <p:extLst>
      <p:ext uri="{BB962C8B-B14F-4D97-AF65-F5344CB8AC3E}">
        <p14:creationId xmlns:p14="http://schemas.microsoft.com/office/powerpoint/2010/main" val="148578192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5AA2028-29BF-4780-BC6A-5018142B0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96050"/>
            <a:ext cx="1219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5B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3BA709-F2CD-42FF-8420-31E87B169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95325"/>
            <a:ext cx="1219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75BD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6E0047-9927-452B-960E-CF5602489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123825"/>
            <a:ext cx="1428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B75B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93F62E-4AC4-40F5-AA7C-CAAF2789A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90500"/>
            <a:ext cx="1276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296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11111"/>
                </a:solidFill>
                <a:latin typeface="Arial"/>
                <a:ea typeface="Arial"/>
                <a:cs typeface="Arial"/>
              </a:rPr>
              <a:t>byte force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DD43C5-837C-4254-9773-9920CE00F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90500"/>
            <a:ext cx="8001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654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Research and Analysis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6E7825-11B5-437E-BA25-2EAFD8443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114300"/>
            <a:ext cx="1676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127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405B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05B66"/>
                </a:solidFill>
                <a:latin typeface="Arial"/>
                <a:ea typeface="Arial"/>
                <a:cs typeface="Arial"/>
              </a:rPr>
              <a:t>SMART INDIA</a:t>
            </a:r>
          </a:p>
          <a:p xmlns:a="http://schemas.openxmlformats.org/drawingml/2006/main">
            <a:pPr>
              <a:defRPr sz="1050" b="1" i="0">
                <a:solidFill>
                  <a:srgbClr val="405B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05B66"/>
                </a:solidFill>
                <a:latin typeface="Arial"/>
                <a:ea typeface="Arial"/>
                <a:cs typeface="Arial"/>
              </a:rPr>
              <a:t>HACKATHON</a:t>
            </a:r>
          </a:p>
          <a:p xmlns:a="http://schemas.openxmlformats.org/drawingml/2006/main">
            <a:pPr>
              <a:defRPr sz="1050" b="1" i="0">
                <a:solidFill>
                  <a:srgbClr val="405B66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405B66"/>
                </a:solidFill>
                <a:latin typeface="Arial"/>
                <a:ea typeface="Arial"/>
                <a:cs typeface="Arial"/>
              </a:rPr>
              <a:t>2025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BC9228-88A7-4CCF-AA40-5F8CDEB04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81775"/>
            <a:ext cx="285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>
              <a:defRPr sz="9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7566DB-CBC0-40BE-9688-70D81364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742950"/>
            <a:ext cx="9525" cy="573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6060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D4D251-6FFF-47D1-9956-01ABCAE72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71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6060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661AF2-1FF9-468C-961C-5736F164B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47675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6060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BC86A1-C128-4CB4-98FF-8DB041FCC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83820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234F86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234F86"/>
                </a:solidFill>
                <a:latin typeface="Georgia"/>
                <a:ea typeface="Georgia"/>
                <a:cs typeface="Georgia"/>
              </a:rPr>
              <a:t>Gap and Problem Identification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EE8668-7CC7-48E5-A1E1-50E4A74E9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1114425"/>
            <a:ext cx="228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F86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B7A7CB-850B-4841-A52E-2A7755E2D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1200150"/>
            <a:ext cx="54768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Map the current learning journey: registration, approval, enrollment, assessment, certification, and profile evidence.</a:t>
            </a:r>
          </a:p>
          <a:p xmlns:a="http://schemas.openxmlformats.org/drawingml/2006/main">
            <a:pPr>
              <a:defRPr sz="1200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Identify where separate systems create duplicate records or delay programme reporting.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F07C3A-A386-4A56-B7C5-368473639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8382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234F86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234F86"/>
                </a:solidFill>
                <a:latin typeface="Georgia"/>
                <a:ea typeface="Georgia"/>
                <a:cs typeface="Georgia"/>
              </a:rPr>
              <a:t>Institutional Landscape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399227-4C13-4332-B70B-E89E4A696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114425"/>
            <a:ext cx="228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F86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24927D-50BA-4856-B898-3808262E1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200150"/>
            <a:ext cx="52863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Interview trainees, trainers, and administrators to prioritise dashboard metrics and evidence requirements.</a:t>
            </a:r>
          </a:p>
          <a:p xmlns:a="http://schemas.openxmlformats.org/drawingml/2006/main">
            <a:pPr>
              <a:defRPr sz="1200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Define data-retention, privacy, and certificate-verification rules for the adopting organisation.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6099B1-E3FB-4A02-AD61-B5764D8F9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271462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234F86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234F86"/>
                </a:solidFill>
                <a:latin typeface="Georgia"/>
                <a:ea typeface="Georgia"/>
                <a:cs typeface="Georgia"/>
              </a:rPr>
              <a:t>Competitive and Workflow Analysis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799AC09-9AA8-46D1-B803-0721A28FB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2990850"/>
            <a:ext cx="228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F86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ACF7EB-9F6B-4A10-869D-915703B96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3076575"/>
            <a:ext cx="5476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Compare current manual processes with a single portal for resources, assessments, certificates, and competency mapping.</a:t>
            </a:r>
          </a:p>
          <a:p xmlns:a="http://schemas.openxmlformats.org/drawingml/2006/main">
            <a:pPr>
              <a:defRPr sz="1200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Assess integration needs for existing identity, reporting, or content systems before rollout.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C29C92-F676-43DD-8583-50042183A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1462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234F86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234F86"/>
                </a:solidFill>
                <a:latin typeface="Georgia"/>
                <a:ea typeface="Georgia"/>
                <a:cs typeface="Georgia"/>
              </a:rPr>
              <a:t>Prototype Evaluation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E0F3D8-10C2-4D3B-8853-4D4B8BE69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990850"/>
            <a:ext cx="228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F86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4CB3FB-09F5-40AC-B518-8A2BE6909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076575"/>
            <a:ext cx="52863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Test the current prototype with representative roles and record task completion, errors, and usability feedback.</a:t>
            </a:r>
          </a:p>
          <a:p xmlns:a="http://schemas.openxmlformats.org/drawingml/2006/main">
            <a:pPr>
              <a:defRPr sz="1200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Verify that assessment scoring, enrolment completion, certificate generation, and uploaded-resource access work end to end.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243CC0-04CA-48AB-89F7-635E19D95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46196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234F86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234F86"/>
                </a:solidFill>
                <a:latin typeface="Georgia"/>
                <a:ea typeface="Georgia"/>
                <a:cs typeface="Georgia"/>
              </a:rPr>
              <a:t>Technology Benchmarking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D8960BA-717E-4108-BF99-B7C52016B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4895850"/>
            <a:ext cx="228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F86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29746F-3E00-4305-BD27-389638B12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" y="4981575"/>
            <a:ext cx="54768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Benchmark local SQLite and file uploads against managed database and object-storage options for scale and resilience.</a:t>
            </a:r>
          </a:p>
          <a:p xmlns:a="http://schemas.openxmlformats.org/drawingml/2006/main">
            <a:pPr>
              <a:defRPr sz="1200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Assess deployment controls: CSRF, secure sessions, audit logs, backup, and role-permission tests.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A13613-1C01-4BDE-871B-447539A35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619625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234F86"/>
                </a:solidFill>
                <a:latin typeface="Georgia"/>
                <a:ea typeface="Georgia"/>
                <a:cs typeface="Georgia"/>
              </a:defRPr>
            </a:pPr>
            <a:r>
              <a:rPr sz="1575" b="1" i="0">
                <a:solidFill>
                  <a:srgbClr val="234F86"/>
                </a:solidFill>
                <a:latin typeface="Georgia"/>
                <a:ea typeface="Georgia"/>
                <a:cs typeface="Georgia"/>
              </a:rPr>
              <a:t>Pilot and Governance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4CE55A0-1496-438B-9CC6-9C7F8AD95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895850"/>
            <a:ext cx="228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F86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42CFB61-9E64-4C19-869D-272DB265A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981575"/>
            <a:ext cx="52863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Run a limited cohort pilot and measure enrollment, assessment completion, certificate issuance, and feedback use.</a:t>
            </a:r>
          </a:p>
          <a:p xmlns:a="http://schemas.openxmlformats.org/drawingml/2006/main">
            <a:pPr>
              <a:defRPr sz="1200" b="0" i="0">
                <a:solidFill>
                  <a:srgbClr val="111111"/>
                </a:solidFill>
                <a:latin typeface="Georgia"/>
                <a:ea typeface="Georgia"/>
                <a:cs typeface="Georgia"/>
              </a:defRPr>
            </a:pPr>
            <a:r>
              <a:rPr sz="1200" b="0" i="0">
                <a:solidFill>
                  <a:srgbClr val="111111"/>
                </a:solidFill>
                <a:latin typeface="Georgia"/>
                <a:ea typeface="Georgia"/>
                <a:cs typeface="Georgia"/>
              </a:rPr>
              <a:t>•  Document ownership for content, trainer competency verification, data protection, and support operations.</a:t>
            </a:r>
          </a:p>
        </p:txBody>
      </p:sp>
    </p:spTree>
    <p:extLst>
      <p:ext uri="{BB962C8B-B14F-4D97-AF65-F5344CB8AC3E}">
        <p14:creationId xmlns:p14="http://schemas.microsoft.com/office/powerpoint/2010/main" val="14399055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2026-09-08T16:01:23.8950000Z</dcterms:created>
  <dcterms:modified xsi:type="dcterms:W3CDTF">2026-09-08T16:01:23.8950000Z</dcterms:modified>
</coreProperties>
</file>