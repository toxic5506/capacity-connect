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8e8949b85340f6" /><Relationship Type="http://schemas.openxmlformats.org/officeDocument/2006/relationships/extended-properties" Target="/docProps/app.xml" Id="Rc013c50f67134104" /><Relationship Type="http://schemas.openxmlformats.org/officeDocument/2006/relationships/officeDocument" Target="/ppt/presentation.xml" Id="R9f0818f2b7d649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d0075b4d04e99"/>
  </p:sldMasterIdLst>
  <p:notesMasterIdLst>
    <p:notesMasterId xmlns:r="http://schemas.openxmlformats.org/officeDocument/2006/relationships" r:id="R219d30d26c3c4b77"/>
  </p:notesMasterIdLst>
  <p:sldIdLst>
    <p:sldId xmlns:r="http://schemas.openxmlformats.org/officeDocument/2006/relationships" id="256" r:id="R1efba8bdf3e9455b"/>
    <p:sldId xmlns:r="http://schemas.openxmlformats.org/officeDocument/2006/relationships" id="257" r:id="Rfc5a9e90279642d1"/>
    <p:sldId xmlns:r="http://schemas.openxmlformats.org/officeDocument/2006/relationships" id="258" r:id="Ra2ef740efd344854"/>
    <p:sldId xmlns:r="http://schemas.openxmlformats.org/officeDocument/2006/relationships" id="259" r:id="R920d02a0a46e4fcd"/>
    <p:sldId xmlns:r="http://schemas.openxmlformats.org/officeDocument/2006/relationships" id="260" r:id="R9dfc41e95eeb46ce"/>
    <p:sldId xmlns:r="http://schemas.openxmlformats.org/officeDocument/2006/relationships" id="261" r:id="R0c705fe92913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38018208e241a5" /><Relationship Type="http://schemas.openxmlformats.org/officeDocument/2006/relationships/slideMaster" Target="/ppt/slideMasters/slideMaster1.xml" Id="Rc9ed0075b4d04e99" /><Relationship Type="http://schemas.openxmlformats.org/officeDocument/2006/relationships/notesMaster" Target="/ppt/notesMasters/notesMaster1.xml" Id="R219d30d26c3c4b77" /><Relationship Type="http://schemas.openxmlformats.org/officeDocument/2006/relationships/presProps" Target="/ppt/presProps.xml" Id="R58966263d1934263" /><Relationship Type="http://schemas.openxmlformats.org/officeDocument/2006/relationships/tableStyles" Target="/ppt/tableStyles.xml" Id="R2d985594fb694842" /><Relationship Type="http://schemas.openxmlformats.org/officeDocument/2006/relationships/slide" Target="/ppt/slides/slide1.xml" Id="R1efba8bdf3e9455b" /><Relationship Type="http://schemas.openxmlformats.org/officeDocument/2006/relationships/slide" Target="/ppt/slides/slide2.xml" Id="Rfc5a9e90279642d1" /><Relationship Type="http://schemas.openxmlformats.org/officeDocument/2006/relationships/slide" Target="/ppt/slides/slide3.xml" Id="Ra2ef740efd344854" /><Relationship Type="http://schemas.openxmlformats.org/officeDocument/2006/relationships/slide" Target="/ppt/slides/slide4.xml" Id="R920d02a0a46e4fcd" /><Relationship Type="http://schemas.openxmlformats.org/officeDocument/2006/relationships/slide" Target="/ppt/slides/slide5.xml" Id="R9dfc41e95eeb46ce" /><Relationship Type="http://schemas.openxmlformats.org/officeDocument/2006/relationships/slide" Target="/ppt/slides/slide6.xml" Id="R0c705fe92913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6f8510981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447f79e4745f0" /><Relationship Type="http://schemas.openxmlformats.org/officeDocument/2006/relationships/notesMaster" Target="/ppt/notesMasters/notesMaster1.xml" Id="Refb07beeff904d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83d5f1c755439d" /><Relationship Type="http://schemas.openxmlformats.org/officeDocument/2006/relationships/notesMaster" Target="/ppt/notesMasters/notesMaster1.xml" Id="Ra770f1c0dbff45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fc20098a34594" /><Relationship Type="http://schemas.openxmlformats.org/officeDocument/2006/relationships/notesMaster" Target="/ppt/notesMasters/notesMaster1.xml" Id="R21f8cf4b08324f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62af9d7e94f2e" /><Relationship Type="http://schemas.openxmlformats.org/officeDocument/2006/relationships/notesMaster" Target="/ppt/notesMasters/notesMaster1.xml" Id="R6a626b282e1d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a2e4e9d0a146f5" /><Relationship Type="http://schemas.openxmlformats.org/officeDocument/2006/relationships/notesMaster" Target="/ppt/notesMasters/notesMaster1.xml" Id="Ra9c86630dae049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1b05a7e9b14889" /><Relationship Type="http://schemas.openxmlformats.org/officeDocument/2006/relationships/notesMaster" Target="/ppt/notesMasters/notesMaster1.xml" Id="Rc4b9ebfa1c1e42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layout: SIH 2025 title slide supplied by the user. Project metadata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details based on app.py, models.py, and route modules in the Capacity Connect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statements based on requirements.txt, config.py, app.py, models.py, templates/base.html, and routes/*.py.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Feasibility assessment is an engineering assessment based on the current prototype implementation. It does not assert market-size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describe intended operational benefits from the implemented Capacity Connect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plan for the Capacity Connect solution. No external statistics or unsupported results are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cc727190c43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e778790cd471d" /><Relationship Type="http://schemas.openxmlformats.org/officeDocument/2006/relationships/slideLayout" Target="/ppt/slideLayouts/slideLayout1.xml" Id="Rb5ee52b288da4d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e52b288da4d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9ac39c7f74bdd" /><Relationship Type="http://schemas.openxmlformats.org/officeDocument/2006/relationships/notesSlide" Target="/ppt/notesSlides/notesSlide1.xml" Id="Rc7d0ab168b8a48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01c6fa2f64119" /><Relationship Type="http://schemas.openxmlformats.org/officeDocument/2006/relationships/notesSlide" Target="/ppt/notesSlides/notesSlide2.xml" Id="Ra09d6beff4eb48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d017caf2c4c73" /><Relationship Type="http://schemas.openxmlformats.org/officeDocument/2006/relationships/notesSlide" Target="/ppt/notesSlides/notesSlide3.xml" Id="R4c27fc4bca48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356ae77b84024" /><Relationship Type="http://schemas.openxmlformats.org/officeDocument/2006/relationships/notesSlide" Target="/ppt/notesSlides/notesSlide4.xml" Id="Rfb9aacfee13144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b8465c83c4926" /><Relationship Type="http://schemas.openxmlformats.org/officeDocument/2006/relationships/notesSlide" Target="/ppt/notesSlides/notesSlide5.xml" Id="R29653c49003943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ac6f999234542" /><Relationship Type="http://schemas.openxmlformats.org/officeDocument/2006/relationships/notesSlide" Target="/ppt/notesSlides/notesSlide6.xml" Id="R41796452978040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46972-D572-433F-A190-9D019F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SMART INDIA HACKATHON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6CD08-D480-45EC-9CA8-EEFA3E68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846E8-7A97-44B9-867D-D295BBE5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TITLE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AEF1E-5991-480D-97F8-6065D8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810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Problem Statement ID - 26075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Problem Statement Title - CAPACITY CONNECT A Digital Capacity Building and Learning Management Portal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Theme - Smart Education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PS Category - Software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Team ID -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Team Name - 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EEA5F-2D97-4E4F-BF60-9E1F8F81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857500" cy="3143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E5EB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2DDCE-D988-4AD2-A716-4DE5C1F9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0B75BD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B75BD"/>
                </a:solidFill>
                <a:latin typeface="Arial"/>
                <a:ea typeface="Arial"/>
                <a:cs typeface="Arial"/>
              </a:rPr>
              <a:t>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2203A-F89A-46B0-8576-D7D96982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LEARN</a:t>
            </a:r>
          </a:p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CONNECT</a:t>
            </a:r>
          </a:p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GROW</a:t>
            </a:r>
          </a:p>
        </p:txBody>
      </p:sp>
    </p:spTree>
    <p:extLst>
      <p:ext uri="{BB962C8B-B14F-4D97-AF65-F5344CB8AC3E}">
        <p14:creationId xmlns:p14="http://schemas.microsoft.com/office/powerpoint/2010/main" val="108215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6E2F8-B120-4621-A233-8B52D92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E1C59-1DFA-43D2-9E21-AF4362FF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53B2C-7DF6-4DA8-AFA0-0A628833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4585D-85BE-44D5-AB74-74023BFD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09CC-06CD-436B-8C2B-C265FAFD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228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 Connect: Digital Capacity Building and Learning Management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26ACD-2ACB-472A-AC22-153AFEB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44A86-1C8A-4F9B-BF7D-B0C81788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9E7B5-E4CB-45EC-B68D-DF8AC729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90575"/>
            <a:ext cx="0" cy="15525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1397A-1C49-4294-96B5-77D4A5C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86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24266-706A-40C4-A8FD-6A3FB14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049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19FB9-965A-4640-972A-3136B257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9062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5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Capacity-building programmes often keep learning resources, trainee progress, assessment results, and trainer expertise in separate places. Administrators have limited visibility into approvals, course completion, and competency coverage.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38EF4-D86C-424C-A76F-25425C6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286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Our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59915-AE15-4D35-957E-B234138C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049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73BB7-449B-4373-87F3-97996669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906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 Connect brings role-based learning, competency mapping, assessments, certificates, and resource sharing into one portal. It gives trainees, trainers, and administrators a shared operational 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C1895-4B87-41B8-BED2-28145796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22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016EC-EAAC-4F19-8D93-F6A43ECD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28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Proposed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98666-0ECE-4F22-A741-CC7062F5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051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2FF45-9880-444B-BBDE-B36CDAF3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809875"/>
            <a:ext cx="4667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Role-based accounts with administrator approval for new registrations.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Course catalogue with enrollment, progress tracking, feedback, and linked resources.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Timed MCQ assessments that calculate scores and issue certificates after a pass.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5F336-B613-4D7B-BCC5-26943E5A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Innovation / Uniqueness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38032-C593-4D2A-A744-A90D6B7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1D989-F091-435F-97D4-1F30F67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667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One workflow connects learning activity with trainer competencies.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Certificates and assessment outcomes become part of each learner profile.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Administrators can monitor users, approvals, courses, submissions, and announcements from one console.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8BD5A-8034-45D5-BD9B-462072B3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952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D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87B34-A36B-47F0-9CEE-EEC01AC0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1857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Capacity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53118-B391-4D57-8060-0743CEBB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3E158-47FB-40CF-A568-B105BB7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Courses &amp;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61680-2455-4317-9ED7-0BCF8553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05375"/>
            <a:ext cx="157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A6ABE-337B-46B0-86C6-5AF5AA71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Assessments &amp;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Certificates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CEF43-E489-4ADB-A186-2B1D0BA3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695239-FEB7-4899-BC1D-E7209E5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Competency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088BA-157C-4C3B-8A30-E761D966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48175"/>
            <a:ext cx="1666875" cy="3619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20DEAD-A6CF-4B89-9792-E50153B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EBC52-D4EA-453C-83CC-B41E64C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1524000" cy="3619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</p:spTree>
    <p:extLst>
      <p:ext uri="{BB962C8B-B14F-4D97-AF65-F5344CB8AC3E}">
        <p14:creationId xmlns:p14="http://schemas.microsoft.com/office/powerpoint/2010/main" val="1646305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E8A42-67FD-476D-977F-AD699A61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58AB3-322E-4B31-BB93-4DFB012D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0EAE0-9349-45CE-A9C9-14D49D0E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D9521-03BE-430A-AC33-D74F9E2A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8E98C-0DC8-41B5-BEE1-B05C9958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TECHNICAL 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0B9C4-68B2-4E18-967E-5A4BC73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8E4CF-C2B3-4EE0-B263-16D87D8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4A429-71E3-474C-8362-609D320F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5CDB4-F913-4916-9007-CDDCB066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904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Technology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C587A-6912-42D8-80F3-6BAC134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266825"/>
            <a:ext cx="3295650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 routes and Jinja templates render the web interface.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Tailwind CSS, Lucide icons, Chart.js, and Google Fonts shape the UI.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Flask-SQLAlchemy and SQLAlchemy manage application data.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SQLite stores users, courses, assessments, enrolments, certificates, and more.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Werkzeug hashes passwords and safely names uploaded files.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Local static uploads store learning resources and external certificates.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DABA7-0184-483D-8BD7-DCF4E810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876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Application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FEE2F-0895-4E64-9A2F-3DC16595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1525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3A708-8A12-4D4C-9346-2490587C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D0117-3F67-437F-BDF3-D2BFD08D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Sign in / Registration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C48FD-DC44-4B5A-9E2A-F7774DF9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3E99E-EE28-4B41-8D8D-72498A3C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Role-based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2D4E0-F67D-49B6-86F8-07191542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26193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4C1CA-26F7-46DA-A72F-2EA5F192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Courses, Resources &amp; Enrollment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A0930-29FC-4DDA-BE19-70AB849C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29000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1325E-5C77-4113-A1BA-F76CEAB4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6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Assessment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6254A-0A0C-4156-B24C-68AFC160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2809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CE9BF-7344-47BA-8204-1322A68F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43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Score, Certificate &amp; Progress 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EA307-E38B-4465-BDA4-54B14072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790700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D58A9-4977-40CB-BD11-05F605A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57450"/>
            <a:ext cx="0" cy="2571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F7B5E-CC14-4B81-8654-883FF51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527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6D0C2-8A24-468E-AE45-73BEF55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2905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55B5A-4ECF-438A-B3E9-C0EF9122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Data and 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0D9D8-99F9-4AE6-9948-9119BD21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C8CC72-0EC5-485A-82C1-812B6060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A5628D-5A80-4606-86EF-CFCC9E0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Jinja + Tailwind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55DC8-3380-4A22-9005-3E6C73D2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B4D5C-D7B5-436C-A1E8-9003127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Flask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Blueprint routes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27FC69-F8FA-459E-87ED-8F0CA527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91E016-B329-438B-9E7D-B1E74D5C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195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SQLAlchemy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E681E5-67FB-4FBE-8627-7464F9C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1E0246-7F19-4EC5-A6CF-19E81C4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19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SQLite DB +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static/uploads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B6F7A-DE4C-4200-816E-1736CCD6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2492D-CE1A-4E90-B91A-50294332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9DCB55-9CBD-45BE-85E7-4DCC3FB9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2C4173-25A1-4059-B560-F8B4FAAC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5"/>
          </a:solidFill>
          <a:ln xmlns:a="http://schemas.openxmlformats.org/drawingml/2006/main" w="9525">
            <a:solidFill>
              <a:srgbClr val="8CAFC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C34226-436B-4B4C-BCA1-30197337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435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146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Functional local web prototype</a:t>
            </a:r>
          </a:p>
          <a:p xmlns:a="http://schemas.openxmlformats.org/drawingml/2006/main">
            <a:pPr>
              <a:defRPr sz="120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Core LMS workflows are implemented</a:t>
            </a:r>
          </a:p>
        </p:txBody>
      </p:sp>
    </p:spTree>
    <p:extLst>
      <p:ext uri="{BB962C8B-B14F-4D97-AF65-F5344CB8AC3E}">
        <p14:creationId xmlns:p14="http://schemas.microsoft.com/office/powerpoint/2010/main" val="1679170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D1758-36BE-4321-8960-7C892F93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C45C5-919F-4733-8F1A-F077C05A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07456-9C92-493A-A271-097417E6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6B5F8-E9AC-4E0C-BCF2-BB0FBCAC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F1726-EC01-489C-B6E2-376ACAF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FEASIBILITY AND VIABILITY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9DBC8-5606-4BB7-8BA6-659DBA8F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BE5C3-4113-4EB0-8A35-774BB646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B0107-3E45-4FF3-A62C-A3420669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2F2A0-FB52-4B83-9BE5-B85B621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52C2A-82E6-4CB2-991F-75DAE39C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38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Feasibility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F2065-AB45-4B5B-833F-8E324550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144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0FF89-3F1E-473E-9722-ABF3304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00150"/>
            <a:ext cx="5619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working prototype already covers accounts, approvals, courses, enrolments, assessments, certificates, and resources.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 and SQLite support rapid local deployment with low infrastructure requirements.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data model separates users, learning activity, trainer competencies, and content records.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Server-rendered pages keep the initial implementation straightforward to maintain.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0BE21-CE17-4EEE-AE87-9884582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28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Commercial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6FB0D-CB7F-4652-9558-289DD3F4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049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C0160-2345-43E1-B7FF-C0C24E3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 shared portal can replace fragmented trackers and manual approval workflows.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Role-based access supports internal academies, training partners, and public-sector capacity programmes.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modular data model can move from SQLite to a managed database as usage grows.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platform can add organisation-specific course catalogues and reporting without changing its core user journeys.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B5501-A2CF-41E4-862D-0D2C9D4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Challenges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BDF65-E5AC-4F00-898A-2A15BA2C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196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17451-FBD9-4F99-B3F4-EAD03391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767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Demo quick-login and automatic admin access need removal before deployment.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File uploads need extension validation, virus scanning, and managed storage.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SQLite and local files limit concurrent, multi-server operation.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Forms need CSRF protection and stronger audit trails.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C0B23-7801-4596-A428-CF78A48A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E28D1-CEF3-4AAC-B352-84B1DD99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96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86C5B-D43F-41CD-B99C-96D90AC8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Deploy a production Flask configuration with environment-managed secrets.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Use PostgreSQL and object storage for a multi-organisation rollout.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Add audit logs, notification workflows, and reporting exports.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Pilot with a focused learner cohort, then refine flows from completion and assessment feedback.</a:t>
            </a:r>
          </a:p>
        </p:txBody>
      </p:sp>
    </p:spTree>
    <p:extLst>
      <p:ext uri="{BB962C8B-B14F-4D97-AF65-F5344CB8AC3E}">
        <p14:creationId xmlns:p14="http://schemas.microsoft.com/office/powerpoint/2010/main" val="1227519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F59099-28AA-4FB3-A09F-A5403263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3D0FB-5895-4A7E-A903-E1FE8119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CF592-F41C-4EB8-84D8-B27D0224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87BA4-7E65-4745-9EB3-BE651CB5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A96DC-D995-40CA-8585-973805B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IMPACT AND BENEFITS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2493B-683F-4C4C-9647-E697BA2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61359-1A16-4655-B3F8-B427EABC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31C1C-8928-43CD-AFD1-9351A371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7756B-E02A-476A-AD28-DC439F67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657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A5E39-DE36-4076-A1FF-89ACBD2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953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Direct Impact on Target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F2B75-F359-4FD2-9150-9547571D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715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39B97-DE7A-4462-A4DC-C128CFB0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85875"/>
            <a:ext cx="6143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Trainees see a clear path from enrollment to assessment and certification.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Trainers can publish resources, create questionnaires, and review learner performance.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Administrators can approve users, assign roles, monitor activity, and publish announcements.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Programme managers can identify skill coverage through competency mapping.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287A5-2006-4512-85B3-66A8A93A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238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Strategic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CBAAD-0B34-4587-B523-DA4E806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514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E88DF-4DD1-4844-8EEB-72A196EB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19625"/>
            <a:ext cx="6143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Creates a traceable learning record instead of isolated spreadsheets and files.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Connects trainer expertise with courses and learners' assessed outcomes.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Supports repeatable capacity-building operations across different subject areas.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C8C3D-9A8C-483D-BC7F-A1029AB9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477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Institutional Benefits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298AF-908F-46B3-8112-7970AF0F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2397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A447A-D106-4CDA-AD86-C4C17A5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28750"/>
            <a:ext cx="4810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 central course and resource library reduces duplicated distribution effort.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Certificates provide a verifiable public reference through unique codes.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Course feedback creates a direct channel for improving learning content.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Dashboard metrics consolidate participation, assessment, and completion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0E6F8-4C25-417A-9221-F8560C7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Capacity-building feedback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F0755-D544-49C0-9001-0A2E9789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507E0-008D-415E-B119-D480C6D3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CF666-1516-41A9-9C89-F9614C1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3B0FC-422D-4532-B77B-6DBDDB84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05EB3A-5F21-4CC1-B2A0-E187D2A4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274BC-FCEF-469A-911C-589DB807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Certify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BD5CB-C8BB-470D-A26E-11E07FDF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1000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2BE43-2EA2-42B6-B4E5-59C1FD7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76875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Improve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328FC-D16F-4AFA-828A-BA07B5B6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244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B2210-F9C2-4BF4-ABE2-CF55D9CD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244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B11E6-BA02-466F-837E-CF717DE9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72050"/>
            <a:ext cx="1533525" cy="457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6D5A2B-DE0B-4A43-80CC-EE465B77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72050"/>
            <a:ext cx="1028700" cy="723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</p:spTree>
    <p:extLst>
      <p:ext uri="{BB962C8B-B14F-4D97-AF65-F5344CB8AC3E}">
        <p14:creationId xmlns:p14="http://schemas.microsoft.com/office/powerpoint/2010/main" val="1051151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53CC3-2B2F-4AF4-94A9-092E64BC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FA11E-790E-4A7A-BEE6-EB6F2A4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32EFA-B52B-4370-875A-11BE3F34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CCFE8-4023-4DE9-A426-4C910A39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59C6E-77F0-4278-867F-2DA88D21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Research and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891DC-5F7E-4906-9D12-D7D5F7C3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94BC0-96B2-440E-9A50-E7DD546D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98BA0-EBCA-45C5-8837-8D2ED83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2950"/>
            <a:ext cx="0" cy="57340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6E3B8-362E-4929-8A1C-B8F29AD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EB0F3-4B7A-490A-96B2-A5A008D8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60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F5A4C-1AE8-4498-8B22-3BD5C21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38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Gap and Problem Identification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5B295-99BA-4845-82FE-2798BAA3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144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B2EA0-63A6-4FF7-84BC-04114CE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00150"/>
            <a:ext cx="547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Map the current learning journey: registration, approval, enrollment, assessment, certification, and profile evidence.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Identify where separate systems create duplicate records or delay programme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C1D9E-AE31-448A-BFCA-5C8DAB06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838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Institutional Landscape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989E2-46EB-4C81-8109-3340FED9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14425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D5EBB-FB23-468C-BF28-EB7C1FE2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0015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Interview trainees, trainers, and administrators to prioritise dashboard metrics and evidence requirements.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Define data-retention, privacy, and certificate-verification rules for the adopting organisation.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8DFC8-CBC5-40E9-A033-E809564C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7146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Competitive and Workflow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7D845-181C-45EF-A796-5A69E63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990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D0492-AF6E-4054-A8B0-F59E99E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076575"/>
            <a:ext cx="5476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Compare current manual processes with a single portal for resources, assessments, certificates, and competency mapping.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Assess integration needs for existing identity, reporting, or content systems before rollout.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8C171-2B10-428E-B311-F99ECE30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Prototype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DD41C-CB29-4762-B40F-08C31F1F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E9FEF-86AB-462B-A4AB-8B5BCC1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76575"/>
            <a:ext cx="5286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Test the current prototype with representative roles and record task completion, errors, and usability feedback.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Verify that assessment scoring, enrolment completion, certificate generation, and uploaded-resource access work end to 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55C451-EA33-4ED2-957F-FF4ED236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19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Technology Benchmarking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CD02F-BEA7-44F6-9311-3A6389C7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895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D02A5-567A-4660-BCE7-7F1B9510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81575"/>
            <a:ext cx="547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Benchmark local SQLite and file uploads against managed database and object-storage options for scale and resilience.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Assess deployment controls: CSRF, secure sessions, audit logs, backup, and role-permission tests.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D3E38-19CE-400E-BD99-C12E73C8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Pilot and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7CD7BD-7886-4A63-85BB-D21357EE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585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4F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F4F6E-959D-49FF-BDD6-8258C339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81575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Run a limited cohort pilot and measure enrollment, assessment completion, certificate issuance, and feedback use.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Document ownership for content, trainer competency verification, data protection, and support operations.</a:t>
            </a:r>
          </a:p>
        </p:txBody>
      </p:sp>
    </p:spTree>
    <p:extLst>
      <p:ext uri="{BB962C8B-B14F-4D97-AF65-F5344CB8AC3E}">
        <p14:creationId xmlns:p14="http://schemas.microsoft.com/office/powerpoint/2010/main" val="199527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2026-09-08T16:00:06.3720000Z</dcterms:created>
  <dcterms:modified xsi:type="dcterms:W3CDTF">2026-09-08T16:00:06.3720000Z</dcterms:modified>
</coreProperties>
</file>